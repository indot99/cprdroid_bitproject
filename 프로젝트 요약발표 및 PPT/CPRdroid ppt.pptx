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67" r:id="rId4"/>
    <p:sldId id="277" r:id="rId5"/>
    <p:sldId id="274" r:id="rId6"/>
    <p:sldId id="269" r:id="rId7"/>
    <p:sldId id="270" r:id="rId8"/>
    <p:sldId id="275" r:id="rId9"/>
    <p:sldId id="268" r:id="rId10"/>
    <p:sldId id="278" r:id="rId11"/>
    <p:sldId id="258" r:id="rId12"/>
    <p:sldId id="285" r:id="rId13"/>
    <p:sldId id="286" r:id="rId14"/>
    <p:sldId id="287" r:id="rId15"/>
    <p:sldId id="288" r:id="rId16"/>
    <p:sldId id="262" r:id="rId17"/>
    <p:sldId id="271" r:id="rId18"/>
    <p:sldId id="263" r:id="rId19"/>
    <p:sldId id="265" r:id="rId20"/>
    <p:sldId id="266" r:id="rId21"/>
    <p:sldId id="276" r:id="rId22"/>
    <p:sldId id="279" r:id="rId23"/>
    <p:sldId id="280" r:id="rId24"/>
    <p:sldId id="281" r:id="rId25"/>
    <p:sldId id="283" r:id="rId26"/>
    <p:sldId id="289" r:id="rId27"/>
    <p:sldId id="284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81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72" autoAdjust="0"/>
    <p:restoredTop sz="67288" autoAdjust="0"/>
  </p:normalViewPr>
  <p:slideViewPr>
    <p:cSldViewPr snapToGrid="0">
      <p:cViewPr varScale="1">
        <p:scale>
          <a:sx n="77" d="100"/>
          <a:sy n="77" d="100"/>
        </p:scale>
        <p:origin x="194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35792D-C9F0-454A-8132-5030505AFEB7}" type="datetimeFigureOut">
              <a:rPr lang="ko-KR" altLang="en-US" smtClean="0"/>
              <a:t>2018-07-17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587B77-9828-4EA7-A48A-F69114AC6C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082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587B77-9828-4EA7-A48A-F69114AC6C9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599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심폐소생술에 관련된 내용</a:t>
            </a:r>
            <a:r>
              <a:rPr lang="en-US" altLang="ko-KR" dirty="0" smtClean="0"/>
              <a:t>,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하고자 하는 내용 서비스가 없을 때 단점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기존에 했던 내용들의 문제점</a:t>
            </a:r>
            <a:r>
              <a:rPr lang="en-US" altLang="ko-KR" baseline="0" dirty="0" smtClean="0"/>
              <a:t>,</a:t>
            </a:r>
            <a:r>
              <a:rPr lang="ko-KR" altLang="en-US" baseline="0" dirty="0" smtClean="0"/>
              <a:t>수치적인 데이터없이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587B77-9828-4EA7-A48A-F69114AC6C9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9230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Cpr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로이드 만든 </a:t>
            </a:r>
            <a:r>
              <a:rPr lang="ko-KR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계기</a:t>
            </a:r>
            <a:endParaRPr lang="en-US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endParaRPr lang="en-US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기존에 </a:t>
            </a:r>
            <a:r>
              <a:rPr lang="en-US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cpr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교육방식에서 사용하는 아날로그 방식의 모형은</a:t>
            </a:r>
            <a:r>
              <a:rPr lang="ko-KR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실시간으로 제공하는 특별한 기능이 없기 때문에 압박을 제대로 주고있는지</a:t>
            </a:r>
            <a:r>
              <a:rPr lang="en-US" altLang="ko-KR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적당한 호흡량을 주고 있는지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사람들이 판단하기가 어렵습니다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atinLnBrk="1"/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저희는 실시간으로 </a:t>
            </a:r>
            <a:r>
              <a:rPr lang="ko-KR" alt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아두이노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센서를 통해 가슴압박세기와 호흡량 그리고 정확도를 안드로이드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제공하고 상황에 맞는 안내목소리로 심폐소생술을 올바르게 진행하도록 도와주는</a:t>
            </a:r>
            <a:endParaRPr lang="en-US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프로젝트를 만들게 되었습니다</a:t>
            </a:r>
            <a:endParaRPr lang="en-US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endParaRPr lang="en-US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DC9F9-6360-4D43-B112-31502277554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30399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또한 이 앱을 사용하는 공공기관에서 심폐소생술 교육이 끝난 뒤에는</a:t>
            </a:r>
            <a:r>
              <a:rPr lang="en-US" altLang="ko-KR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결과를 기록하여 웹에 통계자료로 나타날 수 있게 웹 서비스를 구축하였습니다 조금 더 자세히 </a:t>
            </a:r>
            <a:r>
              <a:rPr lang="ko-KR" altLang="en-US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말씀드리자면</a:t>
            </a:r>
            <a:endParaRPr lang="en-US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DC9F9-6360-4D43-B112-31502277554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657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데이터베이스에 기록된 저희 정보들은 저희가 만든 웹 서비스와 연동이 되는데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587B77-9828-4EA7-A48A-F69114AC6C9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725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587B77-9828-4EA7-A48A-F69114AC6C9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4791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만약 저희 프로젝트가 대중화 된다면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CPR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전문강사가 없는 자리에서도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CPR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로이드와 </a:t>
            </a:r>
            <a:r>
              <a:rPr lang="ko-KR" alt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어플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하나만 있으면</a:t>
            </a:r>
            <a:endParaRPr lang="en-US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cpr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교육이 취약한 어린아이들부터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세노인들까지</a:t>
            </a:r>
            <a:r>
              <a:rPr lang="ko-KR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스스로 </a:t>
            </a:r>
            <a:r>
              <a:rPr lang="en-US" altLang="ko-KR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cpr</a:t>
            </a:r>
            <a:r>
              <a:rPr lang="ko-KR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교육을 할 수 있다는 장점을 가지고 있습니다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DC9F9-6360-4D43-B112-31502277554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34402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587B77-9828-4EA7-A48A-F69114AC6C9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811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프로젝트를 하면서 집중했던 것</a:t>
            </a:r>
            <a:r>
              <a:rPr lang="en-US" altLang="ko-KR" dirty="0" smtClean="0"/>
              <a:t>, </a:t>
            </a:r>
            <a:r>
              <a:rPr lang="ko-KR" altLang="en-US" dirty="0" smtClean="0"/>
              <a:t>추가했던 것</a:t>
            </a:r>
            <a:r>
              <a:rPr lang="en-US" altLang="ko-KR" dirty="0" smtClean="0"/>
              <a:t>, </a:t>
            </a:r>
            <a:r>
              <a:rPr lang="ko-KR" altLang="en-US" dirty="0" smtClean="0"/>
              <a:t>통신 문제</a:t>
            </a:r>
            <a:endParaRPr lang="en-US" altLang="ko-KR" dirty="0" smtClean="0"/>
          </a:p>
          <a:p>
            <a:r>
              <a:rPr lang="ko-KR" altLang="en-US" dirty="0" smtClean="0"/>
              <a:t>소프트웨어와</a:t>
            </a:r>
            <a:r>
              <a:rPr lang="ko-KR" altLang="en-US" baseline="0" dirty="0" smtClean="0"/>
              <a:t> 하드웨어로 나눠짐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587B77-9828-4EA7-A48A-F69114AC6C9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71855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일단 </a:t>
            </a:r>
            <a:r>
              <a:rPr lang="ko-KR" altLang="en-US" dirty="0" err="1" smtClean="0"/>
              <a:t>아두이노를</a:t>
            </a:r>
            <a:r>
              <a:rPr lang="ko-KR" altLang="en-US" dirty="0" smtClean="0"/>
              <a:t> 디버깅 하기 위해서 </a:t>
            </a:r>
            <a:r>
              <a:rPr lang="en-US" altLang="ko-KR" dirty="0" smtClean="0"/>
              <a:t>PC</a:t>
            </a:r>
            <a:r>
              <a:rPr lang="ko-KR" altLang="en-US" dirty="0" smtClean="0"/>
              <a:t>와 </a:t>
            </a:r>
            <a:r>
              <a:rPr lang="ko-KR" altLang="en-US" dirty="0" err="1" smtClean="0"/>
              <a:t>아두이노</a:t>
            </a:r>
            <a:r>
              <a:rPr lang="ko-KR" altLang="en-US" dirty="0" smtClean="0"/>
              <a:t> 간의 시리얼 통신을 사용했고 시리얼 모니터를 통해 두개의 아날로그 센서인 압력 센서와 휨 센서의 값들을 읽어와 확인하고 확인 된 센서들의 값을 블루투스를 통해서 안드로이드 앱으로 전송함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시리얼통신이 </a:t>
            </a:r>
            <a:r>
              <a:rPr lang="ko-KR" altLang="en-US" dirty="0" err="1" smtClean="0"/>
              <a:t>보편화되어있다</a:t>
            </a:r>
            <a:r>
              <a:rPr lang="ko-KR" altLang="en-US" dirty="0" smtClean="0"/>
              <a:t> </a:t>
            </a:r>
            <a:r>
              <a:rPr lang="en-US" altLang="ko-KR" dirty="0" smtClean="0"/>
              <a:t>-&gt; </a:t>
            </a:r>
            <a:r>
              <a:rPr lang="ko-KR" altLang="en-US" dirty="0" err="1" smtClean="0"/>
              <a:t>직렬통신방법이라</a:t>
            </a:r>
            <a:r>
              <a:rPr lang="ko-KR" altLang="en-US" dirty="0" smtClean="0"/>
              <a:t> 빠르다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실시간으로 </a:t>
            </a:r>
            <a:r>
              <a:rPr lang="ko-KR" altLang="en-US" dirty="0" err="1" smtClean="0"/>
              <a:t>센서값을</a:t>
            </a:r>
            <a:r>
              <a:rPr lang="ko-KR" altLang="en-US" baseline="0" dirty="0" smtClean="0"/>
              <a:t> 전달받는다 </a:t>
            </a:r>
            <a:r>
              <a:rPr lang="en-US" altLang="ko-KR" baseline="0" dirty="0" smtClean="0"/>
              <a:t>-&gt; </a:t>
            </a:r>
            <a:r>
              <a:rPr lang="ko-KR" altLang="en-US" baseline="0" dirty="0" err="1" smtClean="0"/>
              <a:t>비동기식</a:t>
            </a:r>
            <a:r>
              <a:rPr lang="ko-KR" altLang="en-US" baseline="0" dirty="0" smtClean="0"/>
              <a:t> </a:t>
            </a:r>
            <a:r>
              <a:rPr lang="ko-KR" altLang="en-US" baseline="0" dirty="0" err="1" smtClean="0"/>
              <a:t>통신방법</a:t>
            </a:r>
            <a:endParaRPr lang="en-US" altLang="ko-KR" baseline="0" dirty="0" smtClean="0"/>
          </a:p>
          <a:p>
            <a:r>
              <a:rPr lang="ko-KR" altLang="en-US" baseline="0" dirty="0" smtClean="0"/>
              <a:t>동기화</a:t>
            </a:r>
            <a:r>
              <a:rPr lang="en-US" altLang="ko-KR" baseline="0" dirty="0" smtClean="0"/>
              <a:t>-&gt;</a:t>
            </a:r>
            <a:r>
              <a:rPr lang="ko-KR" altLang="en-US" baseline="0" dirty="0" err="1" smtClean="0"/>
              <a:t>클럭건다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587B77-9828-4EA7-A48A-F69114AC6C93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1865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파이어베이스란 모바일 및 웹 애플리케이션 개발 플랫폼이다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클라우드</a:t>
            </a:r>
            <a:r>
              <a:rPr lang="ko-KR" altLang="en-US" dirty="0" smtClean="0"/>
              <a:t> 서비스 제공자이며 동시에 </a:t>
            </a:r>
            <a:r>
              <a:rPr lang="ko-KR" altLang="en-US" dirty="0" err="1" smtClean="0"/>
              <a:t>백엔드의</a:t>
            </a:r>
            <a:r>
              <a:rPr lang="ko-KR" altLang="en-US" dirty="0" smtClean="0"/>
              <a:t> 기능을 가지고 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파이어베이스를 선택한 이유는 사실 이론적이나 개념적인 공부 보단</a:t>
            </a:r>
            <a:r>
              <a:rPr lang="en-US" altLang="ko-KR" dirty="0" smtClean="0"/>
              <a:t>, </a:t>
            </a:r>
            <a:r>
              <a:rPr lang="ko-KR" altLang="en-US" dirty="0" smtClean="0"/>
              <a:t>우리가 원하는 작품을 빨리</a:t>
            </a:r>
            <a:r>
              <a:rPr lang="en-US" altLang="ko-KR" dirty="0" smtClean="0"/>
              <a:t>, </a:t>
            </a:r>
            <a:r>
              <a:rPr lang="ko-KR" altLang="en-US" dirty="0" smtClean="0"/>
              <a:t>쉽게 만드는 능력을 가지고자 선택하게 되었다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 </a:t>
            </a:r>
            <a:r>
              <a:rPr lang="ko-KR" altLang="en-US" dirty="0" smtClean="0"/>
              <a:t>구글 계정만 있으면 시작은 무료</a:t>
            </a:r>
            <a:r>
              <a:rPr lang="en-US" altLang="ko-KR" dirty="0" smtClean="0"/>
              <a:t>,</a:t>
            </a:r>
          </a:p>
          <a:p>
            <a:r>
              <a:rPr lang="en-US" altLang="ko-KR" dirty="0" smtClean="0"/>
              <a:t> </a:t>
            </a:r>
            <a:r>
              <a:rPr lang="ko-KR" altLang="en-US" dirty="0" smtClean="0"/>
              <a:t>안전한 보안과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인증 및 권한 시스템</a:t>
            </a:r>
            <a:r>
              <a:rPr lang="en-US" altLang="ko-KR" dirty="0" smtClean="0"/>
              <a:t>,</a:t>
            </a:r>
          </a:p>
          <a:p>
            <a:r>
              <a:rPr lang="en-US" altLang="ko-KR" dirty="0" smtClean="0"/>
              <a:t> </a:t>
            </a:r>
            <a:r>
              <a:rPr lang="ko-KR" altLang="en-US" dirty="0" smtClean="0"/>
              <a:t>실수를 줄여주는 데이터 처리 과정</a:t>
            </a:r>
            <a:r>
              <a:rPr lang="en-US" altLang="ko-KR" dirty="0" smtClean="0"/>
              <a:t>,</a:t>
            </a:r>
          </a:p>
          <a:p>
            <a:r>
              <a:rPr lang="en-US" altLang="ko-KR" dirty="0" smtClean="0"/>
              <a:t> </a:t>
            </a:r>
            <a:r>
              <a:rPr lang="ko-KR" altLang="en-US" dirty="0" smtClean="0"/>
              <a:t>실시간 데이터 처리와 </a:t>
            </a:r>
            <a:r>
              <a:rPr lang="ko-KR" altLang="en-US" dirty="0" err="1" smtClean="0"/>
              <a:t>캐싱</a:t>
            </a:r>
            <a:r>
              <a:rPr lang="en-US" altLang="ko-KR" dirty="0" smtClean="0"/>
              <a:t>,</a:t>
            </a:r>
          </a:p>
          <a:p>
            <a:r>
              <a:rPr lang="en-US" altLang="ko-KR" dirty="0" smtClean="0"/>
              <a:t> </a:t>
            </a:r>
            <a:r>
              <a:rPr lang="ko-KR" altLang="en-US" dirty="0" smtClean="0"/>
              <a:t>비교적 간단한 </a:t>
            </a:r>
            <a:r>
              <a:rPr lang="en-US" altLang="ko-KR" dirty="0" smtClean="0"/>
              <a:t>PUSH </a:t>
            </a:r>
            <a:r>
              <a:rPr lang="ko-KR" altLang="en-US" dirty="0" err="1" smtClean="0"/>
              <a:t>알람</a:t>
            </a:r>
            <a:r>
              <a:rPr lang="ko-KR" altLang="en-US" dirty="0" smtClean="0"/>
              <a:t> 기능</a:t>
            </a:r>
            <a:r>
              <a:rPr lang="en-US" altLang="ko-KR" dirty="0" smtClean="0"/>
              <a:t>,</a:t>
            </a:r>
          </a:p>
          <a:p>
            <a:r>
              <a:rPr lang="en-US" altLang="ko-KR" dirty="0" smtClean="0"/>
              <a:t> </a:t>
            </a:r>
            <a:r>
              <a:rPr lang="ko-KR" altLang="en-US" dirty="0" smtClean="0"/>
              <a:t>서버측 코드 비중이 적음</a:t>
            </a:r>
          </a:p>
          <a:p>
            <a:r>
              <a:rPr lang="ko-KR" altLang="en-US" dirty="0" smtClean="0"/>
              <a:t>  </a:t>
            </a:r>
            <a:r>
              <a:rPr lang="en-US" altLang="ko-KR" dirty="0" smtClean="0"/>
              <a:t>-&gt;&gt; https://mellbrowns.wordpress.com/2018/01/08/firebase-</a:t>
            </a:r>
            <a:r>
              <a:rPr lang="ko-KR" altLang="en-US" dirty="0" smtClean="0"/>
              <a:t>시작하기</a:t>
            </a:r>
            <a:r>
              <a:rPr lang="en-US" altLang="ko-KR" dirty="0" smtClean="0"/>
              <a:t>/</a:t>
            </a:r>
          </a:p>
          <a:p>
            <a:r>
              <a:rPr lang="en-US" altLang="ko-KR" dirty="0" smtClean="0"/>
              <a:t>  -&gt;&gt; http://cocomo.tistory.com/487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587B77-9828-4EA7-A48A-F69114AC6C93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1680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자바스크립트 기반의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Node.js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</a:t>
            </a:r>
            <a:endParaRPr lang="en-US" altLang="ko-K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내장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서버 라이브러리를 포함하고 있어 웹 서버에서 아파치 등의 별도의 소프트웨어 없이 동작하는게 가능합니다</a:t>
            </a:r>
            <a:endParaRPr lang="en-US" altLang="ko-K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저희가 특별히 장점을 활용한 건 아니지만 파이어베이스에서 제공하는 웹호스팅기능에서는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Node.js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활용하는 방법이 가장 보편화 되어 있어서 호스팅을 해주는</a:t>
            </a:r>
            <a:r>
              <a:rPr lang="ko-KR" alt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용도로 쓰이게 되었습니다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587B77-9828-4EA7-A48A-F69114AC6C93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90143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0" dirty="0" smtClean="0"/>
              <a:t>HTML, CSS, JavaScript</a:t>
            </a:r>
            <a:r>
              <a:rPr lang="ko-KR" altLang="en-US" b="0" dirty="0" smtClean="0"/>
              <a:t>를 사용하고 </a:t>
            </a:r>
            <a:r>
              <a:rPr lang="en-US" altLang="ko-KR" b="0" dirty="0" err="1" smtClean="0"/>
              <a:t>Pingendo</a:t>
            </a:r>
            <a:r>
              <a:rPr lang="ko-KR" altLang="en-US" b="0" dirty="0" smtClean="0"/>
              <a:t>라는 웹 편집기를 이용하여</a:t>
            </a:r>
            <a:r>
              <a:rPr lang="ko-KR" altLang="en-US" b="0" baseline="0" dirty="0" smtClean="0"/>
              <a:t> 웹 디자인을 하였다</a:t>
            </a:r>
            <a:r>
              <a:rPr lang="en-US" altLang="ko-KR" b="0" baseline="0" dirty="0" smtClean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0" baseline="0" dirty="0" smtClean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0" baseline="0" dirty="0" smtClean="0"/>
              <a:t>10 11 14 20 17</a:t>
            </a:r>
            <a:endParaRPr lang="en-US" altLang="ko-KR" b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DC9F9-6360-4D43-B112-315022775540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2996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DD6F-6F23-47E6-B78C-64860D43C348}" type="datetimeFigureOut">
              <a:rPr lang="ko-KR" altLang="en-US" smtClean="0"/>
              <a:t>2018-07-17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BC9B9-1EC7-4D04-8509-1973C1EB1C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643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DD6F-6F23-47E6-B78C-64860D43C348}" type="datetimeFigureOut">
              <a:rPr lang="ko-KR" altLang="en-US" smtClean="0"/>
              <a:t>2018-07-17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BC9B9-1EC7-4D04-8509-1973C1EB1C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82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DD6F-6F23-47E6-B78C-64860D43C348}" type="datetimeFigureOut">
              <a:rPr lang="ko-KR" altLang="en-US" smtClean="0"/>
              <a:t>2018-07-17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BC9B9-1EC7-4D04-8509-1973C1EB1C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6448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DD6F-6F23-47E6-B78C-64860D43C348}" type="datetimeFigureOut">
              <a:rPr lang="ko-KR" altLang="en-US" smtClean="0"/>
              <a:t>2018-07-17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BC9B9-1EC7-4D04-8509-1973C1EB1C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0830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DD6F-6F23-47E6-B78C-64860D43C348}" type="datetimeFigureOut">
              <a:rPr lang="ko-KR" altLang="en-US" smtClean="0"/>
              <a:t>2018-07-17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BC9B9-1EC7-4D04-8509-1973C1EB1C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8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DD6F-6F23-47E6-B78C-64860D43C348}" type="datetimeFigureOut">
              <a:rPr lang="ko-KR" altLang="en-US" smtClean="0"/>
              <a:t>2018-07-17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BC9B9-1EC7-4D04-8509-1973C1EB1C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1705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DD6F-6F23-47E6-B78C-64860D43C348}" type="datetimeFigureOut">
              <a:rPr lang="ko-KR" altLang="en-US" smtClean="0"/>
              <a:t>2018-07-17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BC9B9-1EC7-4D04-8509-1973C1EB1C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755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DD6F-6F23-47E6-B78C-64860D43C348}" type="datetimeFigureOut">
              <a:rPr lang="ko-KR" altLang="en-US" smtClean="0"/>
              <a:t>2018-07-17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BC9B9-1EC7-4D04-8509-1973C1EB1C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3187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DD6F-6F23-47E6-B78C-64860D43C348}" type="datetimeFigureOut">
              <a:rPr lang="ko-KR" altLang="en-US" smtClean="0"/>
              <a:t>2018-07-17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BC9B9-1EC7-4D04-8509-1973C1EB1C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8836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DD6F-6F23-47E6-B78C-64860D43C348}" type="datetimeFigureOut">
              <a:rPr lang="ko-KR" altLang="en-US" smtClean="0"/>
              <a:t>2018-07-17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BC9B9-1EC7-4D04-8509-1973C1EB1C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0262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DD6F-6F23-47E6-B78C-64860D43C348}" type="datetimeFigureOut">
              <a:rPr lang="ko-KR" altLang="en-US" smtClean="0"/>
              <a:t>2018-07-17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BC9B9-1EC7-4D04-8509-1973C1EB1C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498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DBDD6F-6F23-47E6-B78C-64860D43C348}" type="datetimeFigureOut">
              <a:rPr lang="ko-KR" altLang="en-US" smtClean="0"/>
              <a:t>2018-07-17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BC9B9-1EC7-4D04-8509-1973C1EB1C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5673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0.png"/><Relationship Id="rId7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1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0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emf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30.png"/><Relationship Id="rId4" Type="http://schemas.openxmlformats.org/officeDocument/2006/relationships/image" Target="../media/image42.emf"/><Relationship Id="rId9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/>
        </p:nvCxnSpPr>
        <p:spPr>
          <a:xfrm>
            <a:off x="734321" y="6233373"/>
            <a:ext cx="10682979" cy="0"/>
          </a:xfrm>
          <a:prstGeom prst="line">
            <a:avLst/>
          </a:prstGeom>
          <a:ln w="28575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734321" y="619973"/>
            <a:ext cx="10682979" cy="0"/>
          </a:xfrm>
          <a:prstGeom prst="line">
            <a:avLst/>
          </a:prstGeom>
          <a:ln w="57150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/>
          <p:cNvGrpSpPr/>
          <p:nvPr/>
        </p:nvGrpSpPr>
        <p:grpSpPr>
          <a:xfrm>
            <a:off x="734321" y="859676"/>
            <a:ext cx="2956838" cy="1467424"/>
            <a:chOff x="2575755" y="2692962"/>
            <a:chExt cx="2956838" cy="1467424"/>
          </a:xfrm>
        </p:grpSpPr>
        <p:grpSp>
          <p:nvGrpSpPr>
            <p:cNvPr id="10" name="그룹 9"/>
            <p:cNvGrpSpPr/>
            <p:nvPr/>
          </p:nvGrpSpPr>
          <p:grpSpPr>
            <a:xfrm>
              <a:off x="2575755" y="2867341"/>
              <a:ext cx="2929185" cy="1133456"/>
              <a:chOff x="776737" y="1686548"/>
              <a:chExt cx="9032265" cy="3495062"/>
            </a:xfrm>
          </p:grpSpPr>
          <p:sp>
            <p:nvSpPr>
              <p:cNvPr id="8" name="직사각형 7"/>
              <p:cNvSpPr/>
              <p:nvPr/>
            </p:nvSpPr>
            <p:spPr>
              <a:xfrm>
                <a:off x="3545069" y="1686548"/>
                <a:ext cx="3495600" cy="3495062"/>
              </a:xfrm>
              <a:prstGeom prst="rect">
                <a:avLst/>
              </a:prstGeom>
              <a:solidFill>
                <a:srgbClr val="EB4C1A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타원 6"/>
              <p:cNvSpPr/>
              <p:nvPr/>
            </p:nvSpPr>
            <p:spPr>
              <a:xfrm>
                <a:off x="776737" y="1686549"/>
                <a:ext cx="3489314" cy="3489313"/>
              </a:xfrm>
              <a:prstGeom prst="ellipse">
                <a:avLst/>
              </a:prstGeom>
              <a:solidFill>
                <a:srgbClr val="39A1F3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이등변 삼각형 8"/>
              <p:cNvSpPr/>
              <p:nvPr/>
            </p:nvSpPr>
            <p:spPr>
              <a:xfrm flipH="1">
                <a:off x="5714304" y="1686549"/>
                <a:ext cx="4094698" cy="3495061"/>
              </a:xfrm>
              <a:prstGeom prst="triangle">
                <a:avLst>
                  <a:gd name="adj" fmla="val 49780"/>
                </a:avLst>
              </a:prstGeom>
              <a:solidFill>
                <a:srgbClr val="F8B910">
                  <a:alpha val="8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1" name="모서리가 둥근 직사각형 10"/>
            <p:cNvSpPr/>
            <p:nvPr/>
          </p:nvSpPr>
          <p:spPr>
            <a:xfrm rot="5400000">
              <a:off x="3684166" y="3860661"/>
              <a:ext cx="345030" cy="25441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모서리가 둥근 직사각형 11"/>
            <p:cNvSpPr/>
            <p:nvPr/>
          </p:nvSpPr>
          <p:spPr>
            <a:xfrm rot="5400000">
              <a:off x="2968017" y="2738267"/>
              <a:ext cx="345030" cy="25441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모서리가 둥근 직사각형 12"/>
            <p:cNvSpPr/>
            <p:nvPr/>
          </p:nvSpPr>
          <p:spPr>
            <a:xfrm rot="5400000">
              <a:off x="5232869" y="3849600"/>
              <a:ext cx="345030" cy="25441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5547148" y="2771417"/>
            <a:ext cx="249299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Semicolon</a:t>
            </a:r>
          </a:p>
          <a:p>
            <a:r>
              <a:rPr lang="en-US" altLang="ko-KR" sz="40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CPRdroid</a:t>
            </a:r>
            <a:endParaRPr lang="en-US" altLang="ko-KR" sz="40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20" name="그룹 19"/>
          <p:cNvGrpSpPr/>
          <p:nvPr/>
        </p:nvGrpSpPr>
        <p:grpSpPr>
          <a:xfrm>
            <a:off x="8281988" y="3499494"/>
            <a:ext cx="543882" cy="501674"/>
            <a:chOff x="8349067" y="2867341"/>
            <a:chExt cx="1226798" cy="1131592"/>
          </a:xfrm>
        </p:grpSpPr>
        <p:sp>
          <p:nvSpPr>
            <p:cNvPr id="17" name="타원 16"/>
            <p:cNvSpPr/>
            <p:nvPr/>
          </p:nvSpPr>
          <p:spPr>
            <a:xfrm>
              <a:off x="8444272" y="2867341"/>
              <a:ext cx="1131593" cy="1131592"/>
            </a:xfrm>
            <a:prstGeom prst="ellipse">
              <a:avLst/>
            </a:prstGeom>
            <a:solidFill>
              <a:srgbClr val="84BA1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모서리가 둥근 직사각형 18"/>
            <p:cNvSpPr/>
            <p:nvPr/>
          </p:nvSpPr>
          <p:spPr>
            <a:xfrm>
              <a:off x="8349067" y="3307746"/>
              <a:ext cx="271289" cy="2544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4607163" y="4654488"/>
            <a:ext cx="28782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-</a:t>
            </a:r>
            <a:r>
              <a:rPr lang="ko-KR" altLang="en-US" dirty="0" smtClean="0"/>
              <a:t>조원</a:t>
            </a:r>
            <a:r>
              <a:rPr lang="en-US" altLang="ko-KR" dirty="0" smtClean="0"/>
              <a:t>-</a:t>
            </a:r>
          </a:p>
          <a:p>
            <a:pPr algn="ctr"/>
            <a:r>
              <a:rPr lang="ko-KR" altLang="en-US" dirty="0" smtClean="0"/>
              <a:t>신동철 신하은</a:t>
            </a:r>
            <a:endParaRPr lang="en-US" altLang="ko-KR" dirty="0" smtClean="0"/>
          </a:p>
          <a:p>
            <a:pPr algn="ctr"/>
            <a:r>
              <a:rPr lang="ko-KR" altLang="en-US" dirty="0" err="1" smtClean="0"/>
              <a:t>전현진</a:t>
            </a:r>
            <a:r>
              <a:rPr lang="ko-KR" altLang="en-US" dirty="0" smtClean="0"/>
              <a:t> 박승희</a:t>
            </a:r>
            <a:endParaRPr lang="en-US" altLang="ko-KR" dirty="0" smtClean="0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7077" y="2640976"/>
            <a:ext cx="1398221" cy="1571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625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/>
        </p:nvGrpSpPr>
        <p:grpSpPr>
          <a:xfrm>
            <a:off x="3884377" y="2271393"/>
            <a:ext cx="2109010" cy="369332"/>
            <a:chOff x="3884377" y="2118993"/>
            <a:chExt cx="2109010" cy="369332"/>
          </a:xfrm>
        </p:grpSpPr>
        <p:sp>
          <p:nvSpPr>
            <p:cNvPr id="49" name="TextBox 48"/>
            <p:cNvSpPr txBox="1"/>
            <p:nvPr/>
          </p:nvSpPr>
          <p:spPr>
            <a:xfrm>
              <a:off x="4442963" y="2118993"/>
              <a:ext cx="1550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pc="-15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프로젝트 소개</a:t>
              </a:r>
              <a:endParaRPr lang="en-US" altLang="ko-KR" spc="-15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53" name="타원 52"/>
            <p:cNvSpPr/>
            <p:nvPr/>
          </p:nvSpPr>
          <p:spPr>
            <a:xfrm>
              <a:off x="3884377" y="2146651"/>
              <a:ext cx="336856" cy="33685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1</a:t>
              </a:r>
              <a:endParaRPr lang="ko-KR" altLang="en-US" sz="160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3884377" y="2928665"/>
            <a:ext cx="3032340" cy="369332"/>
            <a:chOff x="3884377" y="2865165"/>
            <a:chExt cx="3032340" cy="369332"/>
          </a:xfrm>
        </p:grpSpPr>
        <p:sp>
          <p:nvSpPr>
            <p:cNvPr id="50" name="TextBox 49"/>
            <p:cNvSpPr txBox="1"/>
            <p:nvPr/>
          </p:nvSpPr>
          <p:spPr>
            <a:xfrm>
              <a:off x="4442963" y="2865165"/>
              <a:ext cx="24737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pc="-15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제작과정 </a:t>
              </a:r>
              <a:r>
                <a:rPr lang="en-US" altLang="ko-KR" spc="-15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&amp; </a:t>
              </a:r>
              <a:r>
                <a:rPr lang="ko-KR" altLang="en-US" spc="-15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사용된 기술</a:t>
              </a:r>
              <a:endParaRPr lang="en-US" altLang="ko-KR" spc="-15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56" name="타원 55"/>
            <p:cNvSpPr/>
            <p:nvPr/>
          </p:nvSpPr>
          <p:spPr>
            <a:xfrm>
              <a:off x="3884377" y="2892823"/>
              <a:ext cx="336856" cy="33685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2</a:t>
              </a:r>
              <a:endParaRPr lang="ko-KR" altLang="en-US" sz="160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3884377" y="3585937"/>
            <a:ext cx="3436297" cy="404116"/>
            <a:chOff x="3884377" y="3611337"/>
            <a:chExt cx="3436297" cy="404116"/>
          </a:xfrm>
        </p:grpSpPr>
        <p:sp>
          <p:nvSpPr>
            <p:cNvPr id="51" name="TextBox 50"/>
            <p:cNvSpPr txBox="1"/>
            <p:nvPr/>
          </p:nvSpPr>
          <p:spPr>
            <a:xfrm>
              <a:off x="4442963" y="3611337"/>
              <a:ext cx="28777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pc="-15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부족한 점 </a:t>
              </a:r>
              <a:r>
                <a:rPr lang="en-US" altLang="ko-KR" spc="-15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&amp; </a:t>
              </a:r>
              <a:r>
                <a:rPr lang="ko-KR" altLang="en-US" spc="-15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보완해야 할 것</a:t>
              </a:r>
              <a:endParaRPr lang="en-US" altLang="ko-KR" spc="-15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59" name="타원 58"/>
            <p:cNvSpPr/>
            <p:nvPr/>
          </p:nvSpPr>
          <p:spPr>
            <a:xfrm>
              <a:off x="3884377" y="3678597"/>
              <a:ext cx="336856" cy="33685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3</a:t>
              </a:r>
              <a:endParaRPr lang="ko-KR" altLang="en-US" sz="160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3884377" y="4277993"/>
            <a:ext cx="1685818" cy="369332"/>
            <a:chOff x="3884377" y="4392293"/>
            <a:chExt cx="1685818" cy="369332"/>
          </a:xfrm>
        </p:grpSpPr>
        <p:sp>
          <p:nvSpPr>
            <p:cNvPr id="52" name="TextBox 51"/>
            <p:cNvSpPr txBox="1"/>
            <p:nvPr/>
          </p:nvSpPr>
          <p:spPr>
            <a:xfrm>
              <a:off x="4442963" y="4392293"/>
              <a:ext cx="11272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pc="-150" dirty="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궁금한 점</a:t>
              </a:r>
              <a:endParaRPr lang="en-US" altLang="ko-KR" spc="-15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62" name="타원 61"/>
            <p:cNvSpPr/>
            <p:nvPr/>
          </p:nvSpPr>
          <p:spPr>
            <a:xfrm>
              <a:off x="3884377" y="4407655"/>
              <a:ext cx="336856" cy="33685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smtClean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4</a:t>
              </a:r>
              <a:endParaRPr lang="ko-KR" altLang="en-US" sz="160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cxnSp>
        <p:nvCxnSpPr>
          <p:cNvPr id="17" name="직선 연결선 16"/>
          <p:cNvCxnSpPr/>
          <p:nvPr/>
        </p:nvCxnSpPr>
        <p:spPr>
          <a:xfrm>
            <a:off x="734321" y="6233373"/>
            <a:ext cx="10682979" cy="0"/>
          </a:xfrm>
          <a:prstGeom prst="line">
            <a:avLst/>
          </a:prstGeom>
          <a:ln w="28575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734321" y="619973"/>
            <a:ext cx="10682979" cy="0"/>
          </a:xfrm>
          <a:prstGeom prst="line">
            <a:avLst/>
          </a:prstGeom>
          <a:ln w="57150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9777" y="228491"/>
            <a:ext cx="12330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2122407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/>
          <p:cNvCxnSpPr/>
          <p:nvPr/>
        </p:nvCxnSpPr>
        <p:spPr>
          <a:xfrm>
            <a:off x="734321" y="6233373"/>
            <a:ext cx="10682979" cy="0"/>
          </a:xfrm>
          <a:prstGeom prst="line">
            <a:avLst/>
          </a:prstGeom>
          <a:ln w="28575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734321" y="619973"/>
            <a:ext cx="10682979" cy="0"/>
          </a:xfrm>
          <a:prstGeom prst="line">
            <a:avLst/>
          </a:prstGeom>
          <a:ln w="57150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9777" y="228491"/>
            <a:ext cx="1518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프로젝트 소개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36" y="2588047"/>
            <a:ext cx="1398221" cy="157139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231129" y="1266092"/>
            <a:ext cx="768936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심장의 기능이 정지하거나 호흡이 멈추었을 때 사용하는 응급처치</a:t>
            </a:r>
            <a:endParaRPr lang="ko-KR" altLang="en-US" dirty="0"/>
          </a:p>
        </p:txBody>
      </p:sp>
      <p:sp>
        <p:nvSpPr>
          <p:cNvPr id="3" name="왼쪽 중괄호 2"/>
          <p:cNvSpPr/>
          <p:nvPr/>
        </p:nvSpPr>
        <p:spPr>
          <a:xfrm>
            <a:off x="2936631" y="1978269"/>
            <a:ext cx="1055077" cy="3472962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237892" y="2444262"/>
            <a:ext cx="877163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영유아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4237891" y="3524689"/>
            <a:ext cx="646331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소아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4237891" y="4587559"/>
            <a:ext cx="646331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성인</a:t>
            </a:r>
            <a:endParaRPr lang="ko-KR" altLang="en-US" dirty="0"/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5345724" y="3708356"/>
            <a:ext cx="122213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/>
          <p:cNvSpPr/>
          <p:nvPr/>
        </p:nvSpPr>
        <p:spPr>
          <a:xfrm>
            <a:off x="6765796" y="3196858"/>
            <a:ext cx="1318846" cy="11254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생존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확인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왼쪽 중괄호 12"/>
          <p:cNvSpPr/>
          <p:nvPr/>
        </p:nvSpPr>
        <p:spPr>
          <a:xfrm>
            <a:off x="8282584" y="2995647"/>
            <a:ext cx="773723" cy="1527836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9153022" y="2810981"/>
            <a:ext cx="1582385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압박 </a:t>
            </a:r>
            <a:r>
              <a:rPr lang="en-US" altLang="ko-KR" dirty="0" smtClean="0"/>
              <a:t>30</a:t>
            </a:r>
            <a:r>
              <a:rPr lang="ko-KR" altLang="en-US" dirty="0" smtClean="0"/>
              <a:t>회</a:t>
            </a:r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9175098" y="4338818"/>
            <a:ext cx="1560310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ko-KR" altLang="en-US" smtClean="0"/>
              <a:t>인공호흡 </a:t>
            </a:r>
            <a:r>
              <a:rPr lang="en-US" altLang="ko-KR" dirty="0" smtClean="0"/>
              <a:t>2</a:t>
            </a:r>
            <a:r>
              <a:rPr lang="ko-KR" altLang="en-US" dirty="0" smtClean="0"/>
              <a:t>회</a:t>
            </a:r>
            <a:endParaRPr lang="ko-KR" altLang="en-US" dirty="0"/>
          </a:p>
        </p:txBody>
      </p:sp>
      <p:cxnSp>
        <p:nvCxnSpPr>
          <p:cNvPr id="16" name="직선 화살표 연결선 15"/>
          <p:cNvCxnSpPr/>
          <p:nvPr/>
        </p:nvCxnSpPr>
        <p:spPr>
          <a:xfrm flipV="1">
            <a:off x="9355015" y="3373744"/>
            <a:ext cx="0" cy="7856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>
            <a:off x="9733085" y="3373744"/>
            <a:ext cx="0" cy="7856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4765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/>
          <p:cNvCxnSpPr/>
          <p:nvPr/>
        </p:nvCxnSpPr>
        <p:spPr>
          <a:xfrm>
            <a:off x="734321" y="6233373"/>
            <a:ext cx="10682979" cy="0"/>
          </a:xfrm>
          <a:prstGeom prst="line">
            <a:avLst/>
          </a:prstGeom>
          <a:ln w="28575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734321" y="619973"/>
            <a:ext cx="10682979" cy="0"/>
          </a:xfrm>
          <a:prstGeom prst="line">
            <a:avLst/>
          </a:prstGeom>
          <a:ln w="57150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D845994-5DD4-4693-84E2-32E3B754C9FC}"/>
              </a:ext>
            </a:extLst>
          </p:cNvPr>
          <p:cNvSpPr txBox="1"/>
          <p:nvPr/>
        </p:nvSpPr>
        <p:spPr>
          <a:xfrm>
            <a:off x="739777" y="228491"/>
            <a:ext cx="1518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프로젝트 소개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880" y="988272"/>
            <a:ext cx="4876800" cy="48768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56" y="2011548"/>
            <a:ext cx="2518344" cy="283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762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/>
          <p:cNvCxnSpPr/>
          <p:nvPr/>
        </p:nvCxnSpPr>
        <p:spPr>
          <a:xfrm>
            <a:off x="828121" y="6138915"/>
            <a:ext cx="10682979" cy="0"/>
          </a:xfrm>
          <a:prstGeom prst="line">
            <a:avLst/>
          </a:prstGeom>
          <a:ln w="28575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734321" y="619973"/>
            <a:ext cx="10682979" cy="0"/>
          </a:xfrm>
          <a:prstGeom prst="line">
            <a:avLst/>
          </a:prstGeom>
          <a:ln w="57150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D845994-5DD4-4693-84E2-32E3B754C9FC}"/>
              </a:ext>
            </a:extLst>
          </p:cNvPr>
          <p:cNvSpPr txBox="1"/>
          <p:nvPr/>
        </p:nvSpPr>
        <p:spPr>
          <a:xfrm>
            <a:off x="739777" y="228491"/>
            <a:ext cx="1518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프로젝트 소개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2523CF5-B397-4B2B-949E-D41707CF7A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267" y="768597"/>
            <a:ext cx="6430966" cy="1711947"/>
          </a:xfrm>
          <a:prstGeom prst="rect">
            <a:avLst/>
          </a:prstGeom>
        </p:spPr>
      </p:pic>
      <p:pic>
        <p:nvPicPr>
          <p:cNvPr id="1028" name="Picture 4" descr="íêµ, íêµ ìì´ì½, ì»¤ë®¤ëí° ì¡°ì§, ì ì¹ì, ì¡°ì§, ì»¤ë®¤ëí°">
            <a:extLst>
              <a:ext uri="{FF2B5EF4-FFF2-40B4-BE49-F238E27FC236}">
                <a16:creationId xmlns:a16="http://schemas.microsoft.com/office/drawing/2014/main" id="{B1B92B4F-4D97-40FD-9340-F077312F4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849" y="3669246"/>
            <a:ext cx="1879526" cy="1879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EE34DE5-F772-4AA7-8E0A-9B215F29532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0085" y="3669246"/>
            <a:ext cx="1879526" cy="187952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DDC2B43-DD3F-4775-8D8B-1CD8FCF7A3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21" y="3669245"/>
            <a:ext cx="1879526" cy="1868271"/>
          </a:xfrm>
          <a:prstGeom prst="rect">
            <a:avLst/>
          </a:prstGeom>
        </p:spPr>
      </p:pic>
      <p:sp>
        <p:nvSpPr>
          <p:cNvPr id="18" name="화살표: 아래쪽 17">
            <a:extLst>
              <a:ext uri="{FF2B5EF4-FFF2-40B4-BE49-F238E27FC236}">
                <a16:creationId xmlns:a16="http://schemas.microsoft.com/office/drawing/2014/main" id="{016980A3-D34B-4563-A420-BA25A2AF3D48}"/>
              </a:ext>
            </a:extLst>
          </p:cNvPr>
          <p:cNvSpPr/>
          <p:nvPr/>
        </p:nvSpPr>
        <p:spPr>
          <a:xfrm rot="10800000">
            <a:off x="5232575" y="2520149"/>
            <a:ext cx="489098" cy="1081607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4F05F88A-0A71-421D-B59B-C2871FB9A172}"/>
              </a:ext>
            </a:extLst>
          </p:cNvPr>
          <p:cNvSpPr/>
          <p:nvPr/>
        </p:nvSpPr>
        <p:spPr>
          <a:xfrm rot="13496720">
            <a:off x="7531033" y="2709100"/>
            <a:ext cx="1229549" cy="57946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00ED392E-9900-4024-87F7-B2A74C4545F0}"/>
              </a:ext>
            </a:extLst>
          </p:cNvPr>
          <p:cNvSpPr/>
          <p:nvPr/>
        </p:nvSpPr>
        <p:spPr>
          <a:xfrm rot="18684653">
            <a:off x="1602933" y="2726792"/>
            <a:ext cx="1229549" cy="57946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541426A2-7C1B-4FE6-A38A-3CD4A1766C0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7674" y="4102350"/>
            <a:ext cx="864327" cy="84786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C8EF3323-FEE7-4986-B16C-07E0C30217A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8984" y="4102350"/>
            <a:ext cx="864327" cy="847864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81945393-FBA9-4888-AB03-35ACA89AFFA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531" y="4102350"/>
            <a:ext cx="864327" cy="84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410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오른쪽 화살표 3"/>
          <p:cNvSpPr/>
          <p:nvPr/>
        </p:nvSpPr>
        <p:spPr>
          <a:xfrm>
            <a:off x="3663897" y="3089821"/>
            <a:ext cx="2728111" cy="66821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/>
          <p:cNvCxnSpPr/>
          <p:nvPr/>
        </p:nvCxnSpPr>
        <p:spPr>
          <a:xfrm>
            <a:off x="734321" y="6233373"/>
            <a:ext cx="10682979" cy="0"/>
          </a:xfrm>
          <a:prstGeom prst="line">
            <a:avLst/>
          </a:prstGeom>
          <a:ln w="28575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734321" y="619973"/>
            <a:ext cx="10682979" cy="0"/>
          </a:xfrm>
          <a:prstGeom prst="line">
            <a:avLst/>
          </a:prstGeom>
          <a:ln w="57150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9777" y="228491"/>
            <a:ext cx="1518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프로젝트 소개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21" y="991204"/>
            <a:ext cx="2739903" cy="4870938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6402" y="2423955"/>
            <a:ext cx="1714500" cy="17145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681" y="2176529"/>
            <a:ext cx="5125400" cy="251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4427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729" y="809259"/>
            <a:ext cx="10058400" cy="4930587"/>
          </a:xfrm>
          <a:prstGeom prst="rect">
            <a:avLst/>
          </a:prstGeom>
        </p:spPr>
      </p:pic>
      <p:cxnSp>
        <p:nvCxnSpPr>
          <p:cNvPr id="17" name="직선 연결선 16"/>
          <p:cNvCxnSpPr/>
          <p:nvPr/>
        </p:nvCxnSpPr>
        <p:spPr>
          <a:xfrm>
            <a:off x="734321" y="6233373"/>
            <a:ext cx="10682979" cy="0"/>
          </a:xfrm>
          <a:prstGeom prst="line">
            <a:avLst/>
          </a:prstGeom>
          <a:ln w="28575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734321" y="619973"/>
            <a:ext cx="10682979" cy="0"/>
          </a:xfrm>
          <a:prstGeom prst="line">
            <a:avLst/>
          </a:prstGeom>
          <a:ln w="57150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9777" y="228491"/>
            <a:ext cx="1518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프로젝트 소개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2651" y="2731251"/>
            <a:ext cx="3067478" cy="13908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직사각형 3"/>
          <p:cNvSpPr/>
          <p:nvPr/>
        </p:nvSpPr>
        <p:spPr>
          <a:xfrm>
            <a:off x="1652954" y="1139926"/>
            <a:ext cx="7728438" cy="3607920"/>
          </a:xfrm>
          <a:prstGeom prst="rect">
            <a:avLst/>
          </a:prstGeom>
          <a:solidFill>
            <a:srgbClr val="6A81F6">
              <a:alpha val="7294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년도 별로 심폐소생술 시행 횟수를 비교하여 통계자료로 활용이 가능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어느 연령대가 심폐소생술 교육이 부족한지 인지 가능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1043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타원 8">
            <a:extLst>
              <a:ext uri="{FF2B5EF4-FFF2-40B4-BE49-F238E27FC236}">
                <a16:creationId xmlns:a16="http://schemas.microsoft.com/office/drawing/2014/main" id="{ACB7DFD5-547E-4BEF-9DE5-7C6DD59F4076}"/>
              </a:ext>
            </a:extLst>
          </p:cNvPr>
          <p:cNvSpPr/>
          <p:nvPr/>
        </p:nvSpPr>
        <p:spPr>
          <a:xfrm>
            <a:off x="4103776" y="2092160"/>
            <a:ext cx="3437466" cy="362372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/>
          <p:cNvCxnSpPr/>
          <p:nvPr/>
        </p:nvCxnSpPr>
        <p:spPr>
          <a:xfrm>
            <a:off x="754510" y="6304705"/>
            <a:ext cx="10682979" cy="0"/>
          </a:xfrm>
          <a:prstGeom prst="line">
            <a:avLst/>
          </a:prstGeom>
          <a:ln w="28575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734321" y="619973"/>
            <a:ext cx="10682979" cy="0"/>
          </a:xfrm>
          <a:prstGeom prst="line">
            <a:avLst/>
          </a:prstGeom>
          <a:ln w="57150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D845994-5DD4-4693-84E2-32E3B754C9FC}"/>
              </a:ext>
            </a:extLst>
          </p:cNvPr>
          <p:cNvSpPr txBox="1"/>
          <p:nvPr/>
        </p:nvSpPr>
        <p:spPr>
          <a:xfrm>
            <a:off x="739777" y="228491"/>
            <a:ext cx="1518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프로젝트 소개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A4AE323-996F-4615-85BF-213BCBF46D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5207" y="2707091"/>
            <a:ext cx="2514603" cy="239386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5988791-DE93-4D3D-8F0B-F7B7B45C63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099" y="4367810"/>
            <a:ext cx="1598083" cy="177287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F1D2D5CF-1168-4947-9254-B4AD1C3852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7836" y="4266210"/>
            <a:ext cx="1710970" cy="1772873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F2ED53BF-4BCE-48B0-A5EF-A45A20DE64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8625" y="593344"/>
            <a:ext cx="1327768" cy="123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151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/>
          <p:cNvCxnSpPr/>
          <p:nvPr/>
        </p:nvCxnSpPr>
        <p:spPr>
          <a:xfrm>
            <a:off x="734321" y="6233373"/>
            <a:ext cx="10682979" cy="0"/>
          </a:xfrm>
          <a:prstGeom prst="line">
            <a:avLst/>
          </a:prstGeom>
          <a:ln w="28575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734321" y="619973"/>
            <a:ext cx="10682979" cy="0"/>
          </a:xfrm>
          <a:prstGeom prst="line">
            <a:avLst/>
          </a:prstGeom>
          <a:ln w="57150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9777" y="228491"/>
            <a:ext cx="1518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프로젝트 소개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409342" y="1891702"/>
            <a:ext cx="3719146" cy="27893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21" y="1468316"/>
            <a:ext cx="2842536" cy="371914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오른쪽 화살표 3"/>
          <p:cNvSpPr/>
          <p:nvPr/>
        </p:nvSpPr>
        <p:spPr>
          <a:xfrm>
            <a:off x="3748766" y="2923438"/>
            <a:ext cx="898428" cy="54512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2105" y="2183997"/>
            <a:ext cx="1325195" cy="1874539"/>
          </a:xfrm>
          <a:prstGeom prst="rect">
            <a:avLst/>
          </a:prstGeom>
        </p:spPr>
      </p:pic>
      <p:sp>
        <p:nvSpPr>
          <p:cNvPr id="11" name="왼쪽/오른쪽 화살표 10"/>
          <p:cNvSpPr/>
          <p:nvPr/>
        </p:nvSpPr>
        <p:spPr>
          <a:xfrm>
            <a:off x="8062546" y="2800348"/>
            <a:ext cx="2029559" cy="641839"/>
          </a:xfrm>
          <a:prstGeom prst="left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4705" y="1665885"/>
            <a:ext cx="1023317" cy="102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756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145643" y="1428930"/>
            <a:ext cx="5381446" cy="40360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설명선 1 5"/>
          <p:cNvSpPr/>
          <p:nvPr/>
        </p:nvSpPr>
        <p:spPr>
          <a:xfrm>
            <a:off x="1798320" y="3078480"/>
            <a:ext cx="1493520" cy="1178560"/>
          </a:xfrm>
          <a:prstGeom prst="borderCallout1">
            <a:avLst>
              <a:gd name="adj1" fmla="val 38578"/>
              <a:gd name="adj2" fmla="val 101871"/>
              <a:gd name="adj3" fmla="val 148707"/>
              <a:gd name="adj4" fmla="val 222891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설명선 1 6"/>
          <p:cNvSpPr/>
          <p:nvPr/>
        </p:nvSpPr>
        <p:spPr>
          <a:xfrm>
            <a:off x="3182005" y="1644864"/>
            <a:ext cx="1003915" cy="726055"/>
          </a:xfrm>
          <a:prstGeom prst="borderCallout1">
            <a:avLst>
              <a:gd name="adj1" fmla="val 38578"/>
              <a:gd name="adj2" fmla="val 101871"/>
              <a:gd name="adj3" fmla="val 143534"/>
              <a:gd name="adj4" fmla="val 190918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설명선 1 7"/>
          <p:cNvSpPr/>
          <p:nvPr/>
        </p:nvSpPr>
        <p:spPr>
          <a:xfrm>
            <a:off x="1798320" y="829331"/>
            <a:ext cx="1493520" cy="1178560"/>
          </a:xfrm>
          <a:prstGeom prst="borderCallout1">
            <a:avLst>
              <a:gd name="adj1" fmla="val 38578"/>
              <a:gd name="adj2" fmla="val 101871"/>
              <a:gd name="adj3" fmla="val 34052"/>
              <a:gd name="adj4" fmla="val 301803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6451600" y="944880"/>
            <a:ext cx="1036320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휨 센서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262880" y="2590800"/>
            <a:ext cx="1330960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압력 센서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262880" y="4714240"/>
            <a:ext cx="1330960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압력 센서</a:t>
            </a:r>
            <a:endParaRPr lang="ko-KR" altLang="en-US" dirty="0"/>
          </a:p>
        </p:txBody>
      </p:sp>
      <p:sp>
        <p:nvSpPr>
          <p:cNvPr id="12" name="설명선 1 11"/>
          <p:cNvSpPr/>
          <p:nvPr/>
        </p:nvSpPr>
        <p:spPr>
          <a:xfrm>
            <a:off x="1584960" y="4738349"/>
            <a:ext cx="1493520" cy="1178560"/>
          </a:xfrm>
          <a:prstGeom prst="borderCallout1">
            <a:avLst>
              <a:gd name="adj1" fmla="val 38578"/>
              <a:gd name="adj2" fmla="val 101871"/>
              <a:gd name="adj3" fmla="val 78880"/>
              <a:gd name="adj4" fmla="val 368469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7183120" y="5537634"/>
            <a:ext cx="1727200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ko-KR" altLang="en-US" err="1" smtClean="0"/>
              <a:t>아두이노</a:t>
            </a:r>
            <a:r>
              <a:rPr lang="ko-KR" altLang="en-US" dirty="0" smtClean="0"/>
              <a:t> 본체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4535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/>
          <p:cNvCxnSpPr/>
          <p:nvPr/>
        </p:nvCxnSpPr>
        <p:spPr>
          <a:xfrm>
            <a:off x="734321" y="6233373"/>
            <a:ext cx="10682979" cy="0"/>
          </a:xfrm>
          <a:prstGeom prst="line">
            <a:avLst/>
          </a:prstGeom>
          <a:ln w="28575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734321" y="619973"/>
            <a:ext cx="10682979" cy="0"/>
          </a:xfrm>
          <a:prstGeom prst="line">
            <a:avLst/>
          </a:prstGeom>
          <a:ln w="57150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9777" y="228491"/>
            <a:ext cx="1518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프로젝트 소개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312" y="2064699"/>
            <a:ext cx="1603294" cy="28503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294" y="2073067"/>
            <a:ext cx="1603294" cy="2850300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9794" y="2570095"/>
            <a:ext cx="1135124" cy="2017999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601" y="2561741"/>
            <a:ext cx="1132222" cy="2012839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719" y="2570095"/>
            <a:ext cx="1137337" cy="2021933"/>
          </a:xfrm>
          <a:prstGeom prst="rect">
            <a:avLst/>
          </a:prstGeom>
        </p:spPr>
      </p:pic>
      <p:sp>
        <p:nvSpPr>
          <p:cNvPr id="35" name="오른쪽 화살표 34"/>
          <p:cNvSpPr/>
          <p:nvPr/>
        </p:nvSpPr>
        <p:spPr>
          <a:xfrm>
            <a:off x="6729539" y="3220144"/>
            <a:ext cx="646545" cy="46046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오른쪽 화살표 35"/>
          <p:cNvSpPr/>
          <p:nvPr/>
        </p:nvSpPr>
        <p:spPr>
          <a:xfrm>
            <a:off x="8965721" y="2693421"/>
            <a:ext cx="646545" cy="46046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오른쪽 화살표 36"/>
          <p:cNvSpPr/>
          <p:nvPr/>
        </p:nvSpPr>
        <p:spPr>
          <a:xfrm rot="10800000">
            <a:off x="8943859" y="3825460"/>
            <a:ext cx="646545" cy="46046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8905855" y="330970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반복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545123" y="1837592"/>
            <a:ext cx="1951892" cy="33234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/>
          <p:cNvSpPr/>
          <p:nvPr/>
        </p:nvSpPr>
        <p:spPr>
          <a:xfrm>
            <a:off x="2957755" y="1836471"/>
            <a:ext cx="1951892" cy="33234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/>
          <p:cNvSpPr/>
          <p:nvPr/>
        </p:nvSpPr>
        <p:spPr>
          <a:xfrm>
            <a:off x="5286876" y="2426654"/>
            <a:ext cx="5991449" cy="23004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5" name="구부러진 연결선 54"/>
          <p:cNvCxnSpPr>
            <a:stCxn id="13" idx="0"/>
            <a:endCxn id="47" idx="0"/>
          </p:cNvCxnSpPr>
          <p:nvPr/>
        </p:nvCxnSpPr>
        <p:spPr>
          <a:xfrm rot="5400000" flipH="1" flipV="1">
            <a:off x="2726825" y="630716"/>
            <a:ext cx="1121" cy="2412632"/>
          </a:xfrm>
          <a:prstGeom prst="curvedConnector3">
            <a:avLst>
              <a:gd name="adj1" fmla="val 7147377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구부러진 연결선 62"/>
          <p:cNvCxnSpPr>
            <a:stCxn id="47" idx="0"/>
            <a:endCxn id="48" idx="0"/>
          </p:cNvCxnSpPr>
          <p:nvPr/>
        </p:nvCxnSpPr>
        <p:spPr>
          <a:xfrm rot="16200000" flipH="1">
            <a:off x="5813059" y="-42888"/>
            <a:ext cx="590183" cy="4348900"/>
          </a:xfrm>
          <a:prstGeom prst="curvedConnector3">
            <a:avLst>
              <a:gd name="adj1" fmla="val -3873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813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/>
          <p:cNvCxnSpPr/>
          <p:nvPr/>
        </p:nvCxnSpPr>
        <p:spPr>
          <a:xfrm>
            <a:off x="734321" y="6233373"/>
            <a:ext cx="10682979" cy="0"/>
          </a:xfrm>
          <a:prstGeom prst="line">
            <a:avLst/>
          </a:prstGeom>
          <a:ln w="28575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734321" y="619973"/>
            <a:ext cx="10682979" cy="0"/>
          </a:xfrm>
          <a:prstGeom prst="line">
            <a:avLst/>
          </a:prstGeom>
          <a:ln w="57150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9777" y="228491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제작과정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" name="타원 2"/>
          <p:cNvSpPr/>
          <p:nvPr/>
        </p:nvSpPr>
        <p:spPr>
          <a:xfrm>
            <a:off x="1054020" y="984359"/>
            <a:ext cx="254977" cy="258291"/>
          </a:xfrm>
          <a:prstGeom prst="ellipse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52812" y="928839"/>
            <a:ext cx="1766170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</a:t>
            </a:r>
            <a:r>
              <a:rPr lang="ko-KR" altLang="en-US" dirty="0" smtClean="0"/>
              <a:t>주차 </a:t>
            </a:r>
            <a:r>
              <a:rPr lang="en-US" altLang="ko-KR" dirty="0" smtClean="0"/>
              <a:t>~ 2</a:t>
            </a:r>
            <a:r>
              <a:rPr lang="ko-KR" altLang="en-US" dirty="0" smtClean="0"/>
              <a:t>주차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631" y="2219394"/>
            <a:ext cx="2438400" cy="243840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2314" y="1320935"/>
            <a:ext cx="1603294" cy="285030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1283" y="1298171"/>
            <a:ext cx="1603294" cy="2850300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1571" y="3273357"/>
            <a:ext cx="1123950" cy="2000250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7321" y="3903633"/>
            <a:ext cx="1132222" cy="2012839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4984" y="3151630"/>
            <a:ext cx="1147055" cy="2039209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9216" y="835769"/>
            <a:ext cx="2452612" cy="245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728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/>
          <p:cNvCxnSpPr/>
          <p:nvPr/>
        </p:nvCxnSpPr>
        <p:spPr>
          <a:xfrm>
            <a:off x="734321" y="6233373"/>
            <a:ext cx="10682979" cy="0"/>
          </a:xfrm>
          <a:prstGeom prst="line">
            <a:avLst/>
          </a:prstGeom>
          <a:ln w="28575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734321" y="619973"/>
            <a:ext cx="10682979" cy="0"/>
          </a:xfrm>
          <a:prstGeom prst="line">
            <a:avLst/>
          </a:prstGeom>
          <a:ln w="57150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9777" y="228491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제작과정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" name="타원 2"/>
          <p:cNvSpPr/>
          <p:nvPr/>
        </p:nvSpPr>
        <p:spPr>
          <a:xfrm>
            <a:off x="1054020" y="984359"/>
            <a:ext cx="254977" cy="258291"/>
          </a:xfrm>
          <a:prstGeom prst="ellipse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52812" y="928839"/>
            <a:ext cx="1766170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 smtClean="0"/>
              <a:t>주차 </a:t>
            </a:r>
            <a:r>
              <a:rPr lang="en-US" altLang="ko-KR" dirty="0" smtClean="0"/>
              <a:t>~ 4</a:t>
            </a:r>
            <a:r>
              <a:rPr lang="ko-KR" altLang="en-US" dirty="0" smtClean="0"/>
              <a:t>주차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6695" y="2366456"/>
            <a:ext cx="2438400" cy="2438400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4104" y="2343331"/>
            <a:ext cx="3719146" cy="27893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6867" y="2635626"/>
            <a:ext cx="1325195" cy="1874539"/>
          </a:xfrm>
          <a:prstGeom prst="rect">
            <a:avLst/>
          </a:prstGeom>
        </p:spPr>
      </p:pic>
      <p:sp>
        <p:nvSpPr>
          <p:cNvPr id="28" name="왼쪽/오른쪽 화살표 27"/>
          <p:cNvSpPr/>
          <p:nvPr/>
        </p:nvSpPr>
        <p:spPr>
          <a:xfrm>
            <a:off x="4497308" y="3251977"/>
            <a:ext cx="2029559" cy="641839"/>
          </a:xfrm>
          <a:prstGeom prst="left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9467" y="2117514"/>
            <a:ext cx="1023317" cy="102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668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/>
          <p:cNvCxnSpPr/>
          <p:nvPr/>
        </p:nvCxnSpPr>
        <p:spPr>
          <a:xfrm>
            <a:off x="734321" y="6233373"/>
            <a:ext cx="10682979" cy="0"/>
          </a:xfrm>
          <a:prstGeom prst="line">
            <a:avLst/>
          </a:prstGeom>
          <a:ln w="28575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734321" y="619973"/>
            <a:ext cx="10682979" cy="0"/>
          </a:xfrm>
          <a:prstGeom prst="line">
            <a:avLst/>
          </a:prstGeom>
          <a:ln w="57150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9777" y="228491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제작과정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" name="타원 2"/>
          <p:cNvSpPr/>
          <p:nvPr/>
        </p:nvSpPr>
        <p:spPr>
          <a:xfrm>
            <a:off x="1054020" y="984359"/>
            <a:ext cx="254977" cy="258291"/>
          </a:xfrm>
          <a:prstGeom prst="ellipse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52812" y="928839"/>
            <a:ext cx="1766170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5</a:t>
            </a:r>
            <a:r>
              <a:rPr lang="ko-KR" altLang="en-US" dirty="0" smtClean="0"/>
              <a:t>주차 </a:t>
            </a:r>
            <a:r>
              <a:rPr lang="en-US" altLang="ko-KR" dirty="0" smtClean="0"/>
              <a:t>~ 6</a:t>
            </a:r>
            <a:r>
              <a:rPr lang="ko-KR" altLang="en-US" dirty="0" smtClean="0"/>
              <a:t>주차</a:t>
            </a:r>
            <a:endParaRPr lang="ko-KR" altLang="en-US" dirty="0"/>
          </a:p>
        </p:txBody>
      </p:sp>
      <p:sp>
        <p:nvSpPr>
          <p:cNvPr id="12" name="사각형 설명선 11"/>
          <p:cNvSpPr/>
          <p:nvPr/>
        </p:nvSpPr>
        <p:spPr>
          <a:xfrm>
            <a:off x="6419409" y="2583173"/>
            <a:ext cx="3551068" cy="1575589"/>
          </a:xfrm>
          <a:prstGeom prst="wedgeRectCallout">
            <a:avLst>
              <a:gd name="adj1" fmla="val -20431"/>
              <a:gd name="adj2" fmla="val -71572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025" y="2120391"/>
            <a:ext cx="1714500" cy="171450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4402" y="666777"/>
            <a:ext cx="1763711" cy="1714917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8948" y="4312031"/>
            <a:ext cx="1325195" cy="1874539"/>
          </a:xfrm>
          <a:prstGeom prst="rect">
            <a:avLst/>
          </a:prstGeom>
        </p:spPr>
      </p:pic>
      <p:cxnSp>
        <p:nvCxnSpPr>
          <p:cNvPr id="16" name="직선 화살표 연결선 15"/>
          <p:cNvCxnSpPr/>
          <p:nvPr/>
        </p:nvCxnSpPr>
        <p:spPr>
          <a:xfrm flipH="1" flipV="1">
            <a:off x="3861956" y="3834891"/>
            <a:ext cx="3206256" cy="15447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 flipV="1">
            <a:off x="3792851" y="1490338"/>
            <a:ext cx="3248891" cy="13785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74506" y="4523548"/>
            <a:ext cx="1651414" cy="1477328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현재 년도</a:t>
            </a:r>
            <a:endParaRPr lang="en-US" altLang="ko-KR" dirty="0" smtClean="0"/>
          </a:p>
          <a:p>
            <a:r>
              <a:rPr lang="ko-KR" altLang="en-US" dirty="0" smtClean="0"/>
              <a:t>환자 연령</a:t>
            </a:r>
            <a:endParaRPr lang="en-US" altLang="ko-KR" dirty="0" smtClean="0"/>
          </a:p>
          <a:p>
            <a:r>
              <a:rPr lang="ko-KR" altLang="en-US" dirty="0" smtClean="0"/>
              <a:t>정확도</a:t>
            </a:r>
            <a:endParaRPr lang="en-US" altLang="ko-KR" dirty="0" smtClean="0"/>
          </a:p>
          <a:p>
            <a:r>
              <a:rPr lang="ko-KR" altLang="en-US" dirty="0" smtClean="0"/>
              <a:t>시행자 연령대</a:t>
            </a:r>
            <a:endParaRPr lang="en-US" altLang="ko-KR" dirty="0"/>
          </a:p>
          <a:p>
            <a:r>
              <a:rPr lang="ko-KR" altLang="en-US" dirty="0" smtClean="0"/>
              <a:t>압박 횟수</a:t>
            </a:r>
            <a:endParaRPr lang="ko-KR" altLang="en-US" dirty="0"/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687" y="2565073"/>
            <a:ext cx="1297230" cy="1297230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4288" y="2682939"/>
            <a:ext cx="3067478" cy="1390844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4879" y="4607282"/>
            <a:ext cx="1386112" cy="1386112"/>
          </a:xfrm>
          <a:prstGeom prst="rect">
            <a:avLst/>
          </a:prstGeom>
        </p:spPr>
      </p:pic>
      <p:sp>
        <p:nvSpPr>
          <p:cNvPr id="25" name="사각형 설명선 24"/>
          <p:cNvSpPr/>
          <p:nvPr/>
        </p:nvSpPr>
        <p:spPr>
          <a:xfrm>
            <a:off x="8738113" y="4523548"/>
            <a:ext cx="1733525" cy="1477328"/>
          </a:xfrm>
          <a:prstGeom prst="wedgeRectCallout">
            <a:avLst>
              <a:gd name="adj1" fmla="val -66988"/>
              <a:gd name="adj2" fmla="val -22606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23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/>
          <p:cNvCxnSpPr/>
          <p:nvPr/>
        </p:nvCxnSpPr>
        <p:spPr>
          <a:xfrm>
            <a:off x="734321" y="6233373"/>
            <a:ext cx="10682979" cy="0"/>
          </a:xfrm>
          <a:prstGeom prst="line">
            <a:avLst/>
          </a:prstGeom>
          <a:ln w="28575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734321" y="619973"/>
            <a:ext cx="10682979" cy="0"/>
          </a:xfrm>
          <a:prstGeom prst="line">
            <a:avLst/>
          </a:prstGeom>
          <a:ln w="57150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9777" y="228491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제작과정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" name="타원 2"/>
          <p:cNvSpPr/>
          <p:nvPr/>
        </p:nvSpPr>
        <p:spPr>
          <a:xfrm>
            <a:off x="1054020" y="984359"/>
            <a:ext cx="254977" cy="258291"/>
          </a:xfrm>
          <a:prstGeom prst="ellipse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52812" y="928839"/>
            <a:ext cx="1766170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7</a:t>
            </a:r>
            <a:r>
              <a:rPr lang="ko-KR" altLang="en-US" dirty="0" smtClean="0"/>
              <a:t>주차 </a:t>
            </a:r>
            <a:r>
              <a:rPr lang="en-US" altLang="ko-KR" dirty="0" smtClean="0"/>
              <a:t>~ 8</a:t>
            </a:r>
            <a:r>
              <a:rPr lang="ko-KR" altLang="en-US" dirty="0" smtClean="0"/>
              <a:t>주차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99060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537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/>
          <p:cNvCxnSpPr/>
          <p:nvPr/>
        </p:nvCxnSpPr>
        <p:spPr>
          <a:xfrm>
            <a:off x="734321" y="6233373"/>
            <a:ext cx="10682979" cy="0"/>
          </a:xfrm>
          <a:prstGeom prst="line">
            <a:avLst/>
          </a:prstGeom>
          <a:ln w="28575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734321" y="619973"/>
            <a:ext cx="10682979" cy="0"/>
          </a:xfrm>
          <a:prstGeom prst="line">
            <a:avLst/>
          </a:prstGeom>
          <a:ln w="57150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9777" y="228491"/>
            <a:ext cx="1313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사용된 기술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89" y="2733617"/>
            <a:ext cx="1386112" cy="1386112"/>
          </a:xfrm>
          <a:prstGeom prst="rect">
            <a:avLst/>
          </a:prstGeom>
        </p:spPr>
      </p:pic>
      <p:sp>
        <p:nvSpPr>
          <p:cNvPr id="5" name="오른쪽 중괄호 4"/>
          <p:cNvSpPr/>
          <p:nvPr/>
        </p:nvSpPr>
        <p:spPr>
          <a:xfrm rot="16200000">
            <a:off x="8186488" y="-172624"/>
            <a:ext cx="294245" cy="3776805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7321954" y="762307"/>
            <a:ext cx="2023311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슬라이드 형식</a:t>
            </a:r>
            <a:endParaRPr lang="en-US" altLang="ko-KR" dirty="0" smtClean="0"/>
          </a:p>
          <a:p>
            <a:r>
              <a:rPr lang="en-US" altLang="ko-KR" dirty="0" smtClean="0"/>
              <a:t>Fragment Activity</a:t>
            </a:r>
            <a:endParaRPr lang="ko-KR" altLang="en-US" dirty="0"/>
          </a:p>
        </p:txBody>
      </p:sp>
      <p:sp>
        <p:nvSpPr>
          <p:cNvPr id="14" name="모서리가 둥근 사각형 설명선 13"/>
          <p:cNvSpPr/>
          <p:nvPr/>
        </p:nvSpPr>
        <p:spPr>
          <a:xfrm>
            <a:off x="2438302" y="1770592"/>
            <a:ext cx="2974109" cy="875969"/>
          </a:xfrm>
          <a:prstGeom prst="wedgeRoundRectCallout">
            <a:avLst>
              <a:gd name="adj1" fmla="val -56765"/>
              <a:gd name="adj2" fmla="val 52043"/>
              <a:gd name="adj3" fmla="val 16667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SDK version : 15 ~ 27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개발 언어 </a:t>
            </a:r>
            <a:r>
              <a:rPr lang="en-US" altLang="ko-KR" dirty="0" smtClean="0">
                <a:solidFill>
                  <a:schemeClr val="tx1"/>
                </a:solidFill>
              </a:rPr>
              <a:t>: JAVA,XML</a:t>
            </a: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3297" y="5622494"/>
            <a:ext cx="1540623" cy="1221758"/>
          </a:xfrm>
          <a:prstGeom prst="rect">
            <a:avLst/>
          </a:prstGeom>
        </p:spPr>
      </p:pic>
      <p:sp>
        <p:nvSpPr>
          <p:cNvPr id="18" name="오른쪽 중괄호 17"/>
          <p:cNvSpPr/>
          <p:nvPr/>
        </p:nvSpPr>
        <p:spPr>
          <a:xfrm rot="5400000">
            <a:off x="8186485" y="3414188"/>
            <a:ext cx="294245" cy="3776805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774476" y="4429760"/>
            <a:ext cx="1235923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어깨 압력</a:t>
            </a:r>
            <a:endParaRPr lang="en-US" altLang="ko-KR" dirty="0" smtClean="0"/>
          </a:p>
          <a:p>
            <a:r>
              <a:rPr lang="ko-KR" altLang="en-US" dirty="0" smtClean="0"/>
              <a:t>  센서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7772382" y="4427454"/>
            <a:ext cx="1198898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가슴 압력</a:t>
            </a:r>
            <a:endParaRPr lang="en-US" altLang="ko-KR" dirty="0" smtClean="0"/>
          </a:p>
          <a:p>
            <a:r>
              <a:rPr lang="ko-KR" altLang="en-US" dirty="0" smtClean="0"/>
              <a:t>  센서</a:t>
            </a:r>
            <a:endParaRPr lang="ko-KR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9660780" y="4427453"/>
            <a:ext cx="1231957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가슴 압력</a:t>
            </a:r>
            <a:endParaRPr lang="en-US" altLang="ko-KR" dirty="0" smtClean="0"/>
          </a:p>
          <a:p>
            <a:r>
              <a:rPr lang="ko-KR" altLang="en-US" dirty="0" smtClean="0"/>
              <a:t>  센서</a:t>
            </a:r>
            <a:endParaRPr lang="ko-KR" altLang="en-US" dirty="0"/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0287" y="2055192"/>
            <a:ext cx="1137337" cy="2021933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424" y="2066033"/>
            <a:ext cx="1123950" cy="200025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9856" y="2077094"/>
            <a:ext cx="1123950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425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/>
          <p:cNvCxnSpPr/>
          <p:nvPr/>
        </p:nvCxnSpPr>
        <p:spPr>
          <a:xfrm>
            <a:off x="734321" y="6233373"/>
            <a:ext cx="10682979" cy="0"/>
          </a:xfrm>
          <a:prstGeom prst="line">
            <a:avLst/>
          </a:prstGeom>
          <a:ln w="28575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734321" y="619973"/>
            <a:ext cx="10682979" cy="0"/>
          </a:xfrm>
          <a:prstGeom prst="line">
            <a:avLst/>
          </a:prstGeom>
          <a:ln w="57150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9777" y="228491"/>
            <a:ext cx="12330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CONTENTS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1972807" y="1724873"/>
            <a:ext cx="8493760" cy="3403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모서리가 둥근 직사각형 2"/>
          <p:cNvSpPr/>
          <p:nvPr/>
        </p:nvSpPr>
        <p:spPr>
          <a:xfrm>
            <a:off x="3161527" y="3454400"/>
            <a:ext cx="6014720" cy="162560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공기 주머니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모서리가 둥근 직사각형 3"/>
          <p:cNvSpPr/>
          <p:nvPr/>
        </p:nvSpPr>
        <p:spPr>
          <a:xfrm>
            <a:off x="4685527" y="2834640"/>
            <a:ext cx="3078480" cy="5994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가슴 압박 센서</a:t>
            </a:r>
            <a:endParaRPr lang="ko-KR" altLang="en-US" dirty="0"/>
          </a:p>
        </p:txBody>
      </p:sp>
      <p:sp>
        <p:nvSpPr>
          <p:cNvPr id="5" name="위쪽 화살표 4"/>
          <p:cNvSpPr/>
          <p:nvPr/>
        </p:nvSpPr>
        <p:spPr>
          <a:xfrm>
            <a:off x="3730487" y="3596640"/>
            <a:ext cx="711200" cy="49784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위쪽 화살표 20"/>
          <p:cNvSpPr/>
          <p:nvPr/>
        </p:nvSpPr>
        <p:spPr>
          <a:xfrm>
            <a:off x="4543287" y="3596640"/>
            <a:ext cx="711200" cy="49784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위쪽 화살표 21"/>
          <p:cNvSpPr/>
          <p:nvPr/>
        </p:nvSpPr>
        <p:spPr>
          <a:xfrm>
            <a:off x="5356087" y="3596640"/>
            <a:ext cx="711200" cy="49784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위쪽 화살표 22"/>
          <p:cNvSpPr/>
          <p:nvPr/>
        </p:nvSpPr>
        <p:spPr>
          <a:xfrm>
            <a:off x="6168887" y="3596640"/>
            <a:ext cx="711200" cy="49784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위쪽 화살표 23"/>
          <p:cNvSpPr/>
          <p:nvPr/>
        </p:nvSpPr>
        <p:spPr>
          <a:xfrm>
            <a:off x="6981687" y="3596640"/>
            <a:ext cx="711200" cy="49784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위쪽 화살표 24"/>
          <p:cNvSpPr/>
          <p:nvPr/>
        </p:nvSpPr>
        <p:spPr>
          <a:xfrm>
            <a:off x="7794487" y="3596640"/>
            <a:ext cx="711200" cy="49784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위쪽 화살표 25"/>
          <p:cNvSpPr/>
          <p:nvPr/>
        </p:nvSpPr>
        <p:spPr>
          <a:xfrm rot="10800000">
            <a:off x="3730487" y="2219960"/>
            <a:ext cx="711200" cy="497840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위쪽 화살표 26"/>
          <p:cNvSpPr/>
          <p:nvPr/>
        </p:nvSpPr>
        <p:spPr>
          <a:xfrm rot="10800000">
            <a:off x="4543287" y="2219960"/>
            <a:ext cx="711200" cy="497840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위쪽 화살표 27"/>
          <p:cNvSpPr/>
          <p:nvPr/>
        </p:nvSpPr>
        <p:spPr>
          <a:xfrm rot="10800000">
            <a:off x="5356087" y="2219960"/>
            <a:ext cx="711200" cy="497840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위쪽 화살표 28"/>
          <p:cNvSpPr/>
          <p:nvPr/>
        </p:nvSpPr>
        <p:spPr>
          <a:xfrm rot="10800000">
            <a:off x="6168887" y="2219960"/>
            <a:ext cx="711200" cy="497840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위쪽 화살표 29"/>
          <p:cNvSpPr/>
          <p:nvPr/>
        </p:nvSpPr>
        <p:spPr>
          <a:xfrm rot="10800000">
            <a:off x="6981687" y="2219960"/>
            <a:ext cx="711200" cy="497840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위쪽 화살표 30"/>
          <p:cNvSpPr/>
          <p:nvPr/>
        </p:nvSpPr>
        <p:spPr>
          <a:xfrm rot="10800000">
            <a:off x="7794487" y="2219960"/>
            <a:ext cx="711200" cy="497840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5020807" y="3281680"/>
            <a:ext cx="2468880" cy="31496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sensor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8658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3.75E-6 -3.7037E-6 L 3.75E-6 -0.12893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458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-2.91667E-6 -3.7037E-6 L -2.91667E-6 -0.13171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597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4.16667E-7 -3.7037E-6 L 4.16667E-7 -0.13472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736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2" presetClass="path" presetSubtype="0" accel="50000" decel="50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3.75E-6 -3.7037E-6 L 3.75E-6 -0.13472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736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42" presetClass="path" presetSubtype="0" accel="50000" decel="50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-2.91667E-6 -3.7037E-6 L -2.91667E-6 -0.13333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667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4.16667E-7 -3.7037E-6 L 4.16667E-7 -0.13333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/>
          <p:cNvCxnSpPr/>
          <p:nvPr/>
        </p:nvCxnSpPr>
        <p:spPr>
          <a:xfrm>
            <a:off x="734321" y="6233373"/>
            <a:ext cx="10682979" cy="0"/>
          </a:xfrm>
          <a:prstGeom prst="line">
            <a:avLst/>
          </a:prstGeom>
          <a:ln w="28575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734321" y="619973"/>
            <a:ext cx="10682979" cy="0"/>
          </a:xfrm>
          <a:prstGeom prst="line">
            <a:avLst/>
          </a:prstGeom>
          <a:ln w="57150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9777" y="228491"/>
            <a:ext cx="1313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사용된 기술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21" y="2815794"/>
            <a:ext cx="1540623" cy="12217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85604" y="1125397"/>
            <a:ext cx="25216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Serial </a:t>
            </a:r>
            <a:r>
              <a:rPr lang="ko-KR" altLang="en-US" sz="1600" dirty="0"/>
              <a:t>통신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두개의 아날로그 센서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압력 센서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휨 센서</a:t>
            </a:r>
            <a:endParaRPr lang="en-US" altLang="ko-KR" sz="16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33E0154-00F9-48AC-A23A-CED6D26336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2439" y="1022350"/>
            <a:ext cx="1540623" cy="122175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5E2975F-5CBA-450B-9E4A-27A434A8D1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2438" y="4130438"/>
            <a:ext cx="1653165" cy="13681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E5AE4D2-DCF1-4D5B-8776-7FE6E8F03B3C}"/>
              </a:ext>
            </a:extLst>
          </p:cNvPr>
          <p:cNvSpPr txBox="1"/>
          <p:nvPr/>
        </p:nvSpPr>
        <p:spPr>
          <a:xfrm>
            <a:off x="4385603" y="4399015"/>
            <a:ext cx="29579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두가지의 센서 값 을 받음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반은 값을 안드로이드 어플로 보냄</a:t>
            </a:r>
            <a:endParaRPr lang="en-US" altLang="ko-KR" sz="1600" dirty="0"/>
          </a:p>
        </p:txBody>
      </p:sp>
      <p:sp>
        <p:nvSpPr>
          <p:cNvPr id="12" name="화살표: 아래쪽 2">
            <a:extLst>
              <a:ext uri="{FF2B5EF4-FFF2-40B4-BE49-F238E27FC236}">
                <a16:creationId xmlns:a16="http://schemas.microsoft.com/office/drawing/2014/main" id="{34314561-044D-4C92-A46A-C023AB7B4588}"/>
              </a:ext>
            </a:extLst>
          </p:cNvPr>
          <p:cNvSpPr/>
          <p:nvPr/>
        </p:nvSpPr>
        <p:spPr>
          <a:xfrm>
            <a:off x="2982351" y="2461846"/>
            <a:ext cx="407963" cy="1575706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3" name="화살표: 아래쪽 10">
            <a:extLst>
              <a:ext uri="{FF2B5EF4-FFF2-40B4-BE49-F238E27FC236}">
                <a16:creationId xmlns:a16="http://schemas.microsoft.com/office/drawing/2014/main" id="{76A11B47-237B-43EE-A53E-4F6A28B9058A}"/>
              </a:ext>
            </a:extLst>
          </p:cNvPr>
          <p:cNvSpPr/>
          <p:nvPr/>
        </p:nvSpPr>
        <p:spPr>
          <a:xfrm rot="10800000">
            <a:off x="3559020" y="2459616"/>
            <a:ext cx="407962" cy="1575706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32314B0-40E9-40E1-8D7F-B1C6F5B2EF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513" y="1845983"/>
            <a:ext cx="3867150" cy="3590925"/>
          </a:xfrm>
          <a:prstGeom prst="rect">
            <a:avLst/>
          </a:prstGeom>
        </p:spPr>
      </p:pic>
      <p:sp>
        <p:nvSpPr>
          <p:cNvPr id="15" name="화살표: 오른쪽 11">
            <a:extLst>
              <a:ext uri="{FF2B5EF4-FFF2-40B4-BE49-F238E27FC236}">
                <a16:creationId xmlns:a16="http://schemas.microsoft.com/office/drawing/2014/main" id="{A1A4AB04-43E6-4E53-965A-8C12496CF574}"/>
              </a:ext>
            </a:extLst>
          </p:cNvPr>
          <p:cNvSpPr/>
          <p:nvPr/>
        </p:nvSpPr>
        <p:spPr>
          <a:xfrm>
            <a:off x="4656818" y="3049473"/>
            <a:ext cx="2686695" cy="591973"/>
          </a:xfrm>
          <a:prstGeom prst="rightArrow">
            <a:avLst>
              <a:gd name="adj1" fmla="val 50000"/>
              <a:gd name="adj2" fmla="val 15974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1710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/>
          <p:cNvCxnSpPr/>
          <p:nvPr/>
        </p:nvCxnSpPr>
        <p:spPr>
          <a:xfrm>
            <a:off x="734321" y="6233373"/>
            <a:ext cx="10682979" cy="0"/>
          </a:xfrm>
          <a:prstGeom prst="line">
            <a:avLst/>
          </a:prstGeom>
          <a:ln w="28575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734321" y="619973"/>
            <a:ext cx="10682979" cy="0"/>
          </a:xfrm>
          <a:prstGeom prst="line">
            <a:avLst/>
          </a:prstGeom>
          <a:ln w="57150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9777" y="228491"/>
            <a:ext cx="1313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사용된 기술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21" y="2516494"/>
            <a:ext cx="1714500" cy="1714500"/>
          </a:xfrm>
          <a:prstGeom prst="rect">
            <a:avLst/>
          </a:prstGeom>
        </p:spPr>
      </p:pic>
      <p:sp>
        <p:nvSpPr>
          <p:cNvPr id="2" name="사각형 설명선 1"/>
          <p:cNvSpPr/>
          <p:nvPr/>
        </p:nvSpPr>
        <p:spPr>
          <a:xfrm>
            <a:off x="2611250" y="2569324"/>
            <a:ext cx="4673470" cy="1714698"/>
          </a:xfrm>
          <a:prstGeom prst="wedgeRectCallout">
            <a:avLst>
              <a:gd name="adj1" fmla="val -58977"/>
              <a:gd name="adj2" fmla="val -18653"/>
            </a:avLst>
          </a:prstGeom>
          <a:solidFill>
            <a:schemeClr val="bg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구글 계정만 있으면 </a:t>
            </a:r>
            <a:r>
              <a:rPr lang="en-US" altLang="ko-KR" dirty="0" smtClean="0">
                <a:solidFill>
                  <a:schemeClr val="tx1"/>
                </a:solidFill>
              </a:rPr>
              <a:t>1GB</a:t>
            </a:r>
            <a:r>
              <a:rPr lang="ko-KR" altLang="en-US" dirty="0" smtClean="0">
                <a:solidFill>
                  <a:schemeClr val="tx1"/>
                </a:solidFill>
              </a:rPr>
              <a:t>무료 호스팅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ko-KR" altLang="en-US" dirty="0" smtClean="0">
                <a:solidFill>
                  <a:schemeClr val="tx1"/>
                </a:solidFill>
              </a:rPr>
              <a:t>실시간 </a:t>
            </a:r>
            <a:r>
              <a:rPr lang="ko-KR" altLang="en-US" dirty="0">
                <a:solidFill>
                  <a:schemeClr val="tx1"/>
                </a:solidFill>
              </a:rPr>
              <a:t>데이터 처리와 </a:t>
            </a:r>
            <a:r>
              <a:rPr lang="ko-KR" altLang="en-US" dirty="0" err="1" smtClean="0">
                <a:solidFill>
                  <a:schemeClr val="tx1"/>
                </a:solidFill>
              </a:rPr>
              <a:t>캐싱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 smtClean="0">
                <a:solidFill>
                  <a:schemeClr val="tx1"/>
                </a:solidFill>
              </a:rPr>
              <a:t>서버측 </a:t>
            </a:r>
            <a:r>
              <a:rPr lang="ko-KR" altLang="en-US" dirty="0">
                <a:solidFill>
                  <a:schemeClr val="tx1"/>
                </a:solidFill>
              </a:rPr>
              <a:t>코드 비중이 </a:t>
            </a:r>
            <a:r>
              <a:rPr lang="ko-KR" altLang="en-US" dirty="0" smtClean="0">
                <a:solidFill>
                  <a:schemeClr val="tx1"/>
                </a:solidFill>
              </a:rPr>
              <a:t>적음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ko-KR" altLang="en-US" dirty="0" err="1" smtClean="0">
                <a:solidFill>
                  <a:schemeClr val="tx1"/>
                </a:solidFill>
              </a:rPr>
              <a:t>클라우드</a:t>
            </a:r>
            <a:r>
              <a:rPr lang="ko-KR" altLang="en-US" dirty="0" smtClean="0">
                <a:solidFill>
                  <a:schemeClr val="tx1"/>
                </a:solidFill>
              </a:rPr>
              <a:t> 서비스</a:t>
            </a:r>
            <a:r>
              <a:rPr lang="en-US" altLang="ko-KR" dirty="0" smtClean="0">
                <a:solidFill>
                  <a:schemeClr val="tx1"/>
                </a:solidFill>
              </a:rPr>
              <a:t>&amp;</a:t>
            </a:r>
            <a:r>
              <a:rPr lang="ko-KR" altLang="en-US" dirty="0" smtClean="0">
                <a:solidFill>
                  <a:schemeClr val="tx1"/>
                </a:solidFill>
              </a:rPr>
              <a:t>백 </a:t>
            </a:r>
            <a:r>
              <a:rPr lang="ko-KR" altLang="en-US" dirty="0" err="1" smtClean="0">
                <a:solidFill>
                  <a:schemeClr val="tx1"/>
                </a:solidFill>
              </a:rPr>
              <a:t>엔드</a:t>
            </a:r>
            <a:r>
              <a:rPr lang="ko-KR" altLang="en-US" dirty="0" smtClean="0">
                <a:solidFill>
                  <a:schemeClr val="tx1"/>
                </a:solidFill>
              </a:rPr>
              <a:t> 기능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9102" y="1981010"/>
            <a:ext cx="2558694" cy="394796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7559040" y="1036320"/>
            <a:ext cx="2966720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실시간으로 처리가 가능한</a:t>
            </a:r>
            <a:endParaRPr lang="en-US" altLang="ko-KR" dirty="0" smtClean="0"/>
          </a:p>
          <a:p>
            <a:r>
              <a:rPr lang="en-US" altLang="ko-KR" dirty="0" smtClean="0"/>
              <a:t>      </a:t>
            </a:r>
            <a:r>
              <a:rPr lang="en-US" altLang="ko-KR" dirty="0" err="1" smtClean="0"/>
              <a:t>Realtime</a:t>
            </a:r>
            <a:r>
              <a:rPr lang="en-US" altLang="ko-KR" dirty="0" smtClean="0"/>
              <a:t> Database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2974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/>
          <p:cNvCxnSpPr/>
          <p:nvPr/>
        </p:nvCxnSpPr>
        <p:spPr>
          <a:xfrm>
            <a:off x="734321" y="6233373"/>
            <a:ext cx="10682979" cy="0"/>
          </a:xfrm>
          <a:prstGeom prst="line">
            <a:avLst/>
          </a:prstGeom>
          <a:ln w="28575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734321" y="619973"/>
            <a:ext cx="10682979" cy="0"/>
          </a:xfrm>
          <a:prstGeom prst="line">
            <a:avLst/>
          </a:prstGeom>
          <a:ln w="57150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9777" y="228491"/>
            <a:ext cx="1313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사용된 기술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727" y="2778058"/>
            <a:ext cx="1297230" cy="129723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260" y="854923"/>
            <a:ext cx="1714500" cy="17145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2242" y="1063141"/>
            <a:ext cx="1763711" cy="1714917"/>
          </a:xfrm>
          <a:prstGeom prst="rect">
            <a:avLst/>
          </a:prstGeom>
        </p:spPr>
      </p:pic>
      <p:cxnSp>
        <p:nvCxnSpPr>
          <p:cNvPr id="3" name="직선 화살표 연결선 2"/>
          <p:cNvCxnSpPr/>
          <p:nvPr/>
        </p:nvCxnSpPr>
        <p:spPr>
          <a:xfrm>
            <a:off x="4683760" y="1920808"/>
            <a:ext cx="383032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77594" y="1658989"/>
            <a:ext cx="1470814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ko-KR" sz="2800" dirty="0" smtClean="0"/>
              <a:t>Hosting</a:t>
            </a:r>
            <a:endParaRPr lang="ko-KR" altLang="en-US" sz="28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6798" y="2986694"/>
            <a:ext cx="4367602" cy="226228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8408" y="2911544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124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730" y="2057056"/>
            <a:ext cx="3693882" cy="336550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4899" y="4214224"/>
            <a:ext cx="3633874" cy="2132922"/>
          </a:xfrm>
          <a:prstGeom prst="rect">
            <a:avLst/>
          </a:prstGeom>
        </p:spPr>
      </p:pic>
      <p:cxnSp>
        <p:nvCxnSpPr>
          <p:cNvPr id="17" name="직선 연결선 16"/>
          <p:cNvCxnSpPr/>
          <p:nvPr/>
        </p:nvCxnSpPr>
        <p:spPr>
          <a:xfrm>
            <a:off x="734321" y="6233373"/>
            <a:ext cx="10682979" cy="0"/>
          </a:xfrm>
          <a:prstGeom prst="line">
            <a:avLst/>
          </a:prstGeom>
          <a:ln w="28575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734321" y="619973"/>
            <a:ext cx="10682979" cy="0"/>
          </a:xfrm>
          <a:prstGeom prst="line">
            <a:avLst/>
          </a:prstGeom>
          <a:ln w="57150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9777" y="228491"/>
            <a:ext cx="1313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사용된 기술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0" y="103404"/>
            <a:ext cx="605477" cy="588727"/>
          </a:xfrm>
          <a:prstGeom prst="rect">
            <a:avLst/>
          </a:prstGeom>
        </p:spPr>
      </p:pic>
      <p:pic>
        <p:nvPicPr>
          <p:cNvPr id="10" name="_x175396912" descr="EMB00001cc836a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49" t="8426" r="20331" b="5392"/>
          <a:stretch>
            <a:fillRect/>
          </a:stretch>
        </p:blipFill>
        <p:spPr bwMode="auto">
          <a:xfrm>
            <a:off x="5027839" y="2493614"/>
            <a:ext cx="2868139" cy="2112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04998" y="4352443"/>
            <a:ext cx="4421374" cy="1477328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HTML, CSS, JavaScript</a:t>
            </a:r>
          </a:p>
          <a:p>
            <a:endParaRPr lang="en-US" altLang="ko-KR" dirty="0" smtClean="0"/>
          </a:p>
          <a:p>
            <a:r>
              <a:rPr lang="en-US" altLang="ko-KR" b="1" dirty="0" smtClean="0"/>
              <a:t>Web editor: </a:t>
            </a:r>
            <a:r>
              <a:rPr lang="en-US" altLang="ko-KR" dirty="0" err="1" smtClean="0"/>
              <a:t>Pingendo</a:t>
            </a:r>
            <a:endParaRPr lang="en-US" altLang="ko-KR" dirty="0" smtClean="0"/>
          </a:p>
          <a:p>
            <a:r>
              <a:rPr lang="en-US" altLang="ko-KR" b="1" dirty="0"/>
              <a:t>JavaScript </a:t>
            </a:r>
            <a:r>
              <a:rPr lang="en-US" altLang="ko-KR" b="1" dirty="0" smtClean="0"/>
              <a:t>Library:</a:t>
            </a:r>
            <a:r>
              <a:rPr lang="en-US" altLang="ko-KR" dirty="0" smtClean="0"/>
              <a:t> Bootstrap , jQuery , Google Charts(</a:t>
            </a:r>
            <a:r>
              <a:rPr lang="en-US" altLang="ko-KR" dirty="0"/>
              <a:t>d3.js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050" y="819237"/>
            <a:ext cx="1555597" cy="1555597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-264668" y="37900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175396552" descr="EMB00001cc836a6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16" t="19368" r="21065" b="36382"/>
          <a:stretch>
            <a:fillRect/>
          </a:stretch>
        </p:blipFill>
        <p:spPr bwMode="auto">
          <a:xfrm>
            <a:off x="2284142" y="2591062"/>
            <a:ext cx="1535113" cy="1344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오른쪽 화살표 5"/>
          <p:cNvSpPr/>
          <p:nvPr/>
        </p:nvSpPr>
        <p:spPr>
          <a:xfrm>
            <a:off x="3819255" y="2670262"/>
            <a:ext cx="1395663" cy="848642"/>
          </a:xfrm>
          <a:prstGeom prst="rightArrow">
            <a:avLst>
              <a:gd name="adj1" fmla="val 53781"/>
              <a:gd name="adj2" fmla="val 53781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_x175394464" descr="EMB00001cc8369d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53" t="11829" r="16350" b="7797"/>
          <a:stretch>
            <a:fillRect/>
          </a:stretch>
        </p:blipFill>
        <p:spPr bwMode="auto">
          <a:xfrm>
            <a:off x="6454899" y="710942"/>
            <a:ext cx="3903662" cy="2441575"/>
          </a:xfrm>
          <a:prstGeom prst="rect">
            <a:avLst/>
          </a:prstGeom>
          <a:noFill/>
          <a:ln>
            <a:noFill/>
          </a:ln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73" y="2287321"/>
            <a:ext cx="1763711" cy="171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534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>
            <a:extLst>
              <a:ext uri="{FF2B5EF4-FFF2-40B4-BE49-F238E27FC236}">
                <a16:creationId xmlns:a16="http://schemas.microsoft.com/office/drawing/2014/main" id="{A5E2975F-5CBA-450B-9E4A-27A434A8D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0598" y="1758800"/>
            <a:ext cx="1653165" cy="1368153"/>
          </a:xfrm>
          <a:prstGeom prst="rect">
            <a:avLst/>
          </a:prstGeom>
        </p:spPr>
      </p:pic>
      <p:cxnSp>
        <p:nvCxnSpPr>
          <p:cNvPr id="17" name="직선 연결선 16"/>
          <p:cNvCxnSpPr/>
          <p:nvPr/>
        </p:nvCxnSpPr>
        <p:spPr>
          <a:xfrm>
            <a:off x="734321" y="6233373"/>
            <a:ext cx="10682979" cy="0"/>
          </a:xfrm>
          <a:prstGeom prst="line">
            <a:avLst/>
          </a:prstGeom>
          <a:ln w="28575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734321" y="619973"/>
            <a:ext cx="10682979" cy="0"/>
          </a:xfrm>
          <a:prstGeom prst="line">
            <a:avLst/>
          </a:prstGeom>
          <a:ln w="57150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9777" y="228491"/>
            <a:ext cx="2646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부족한 점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&amp;</a:t>
            </a:r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보완해야 할 것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256" y="2815794"/>
            <a:ext cx="1540623" cy="1221758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F32314B0-40E9-40E1-8D7F-B1C6F5B2EF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033" y="1631211"/>
            <a:ext cx="3867150" cy="3590925"/>
          </a:xfrm>
          <a:prstGeom prst="rect">
            <a:avLst/>
          </a:prstGeom>
        </p:spPr>
      </p:pic>
      <p:sp>
        <p:nvSpPr>
          <p:cNvPr id="2" name="왼쪽 화살표 1"/>
          <p:cNvSpPr/>
          <p:nvPr/>
        </p:nvSpPr>
        <p:spPr>
          <a:xfrm>
            <a:off x="3515360" y="3126953"/>
            <a:ext cx="3637280" cy="599440"/>
          </a:xfrm>
          <a:prstGeom prst="lef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곱셈 기호 3"/>
          <p:cNvSpPr/>
          <p:nvPr/>
        </p:nvSpPr>
        <p:spPr>
          <a:xfrm>
            <a:off x="2888828" y="846033"/>
            <a:ext cx="4916704" cy="5161280"/>
          </a:xfrm>
          <a:prstGeom prst="mathMultiply">
            <a:avLst>
              <a:gd name="adj1" fmla="val 946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952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/>
          <p:cNvCxnSpPr/>
          <p:nvPr/>
        </p:nvCxnSpPr>
        <p:spPr>
          <a:xfrm>
            <a:off x="734321" y="6233373"/>
            <a:ext cx="10682979" cy="0"/>
          </a:xfrm>
          <a:prstGeom prst="line">
            <a:avLst/>
          </a:prstGeom>
          <a:ln w="28575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734321" y="619973"/>
            <a:ext cx="10682979" cy="0"/>
          </a:xfrm>
          <a:prstGeom prst="line">
            <a:avLst/>
          </a:prstGeom>
          <a:ln w="57150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9777" y="228491"/>
            <a:ext cx="2646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부족한 점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&amp;</a:t>
            </a:r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보완해야 할 것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" name="모서리가 둥근 직사각형 2"/>
          <p:cNvSpPr/>
          <p:nvPr/>
        </p:nvSpPr>
        <p:spPr>
          <a:xfrm>
            <a:off x="863600" y="2598633"/>
            <a:ext cx="2804160" cy="165608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400" dirty="0" smtClean="0"/>
              <a:t>Char</a:t>
            </a:r>
            <a:endParaRPr lang="ko-KR" altLang="en-US" sz="5400" dirty="0"/>
          </a:p>
        </p:txBody>
      </p:sp>
      <p:sp>
        <p:nvSpPr>
          <p:cNvPr id="5" name="왼쪽 중괄호 4"/>
          <p:cNvSpPr/>
          <p:nvPr/>
        </p:nvSpPr>
        <p:spPr>
          <a:xfrm>
            <a:off x="3962400" y="1531833"/>
            <a:ext cx="1422400" cy="378968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5506720" y="1391920"/>
            <a:ext cx="2103120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JAVA : 2Byte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506720" y="5136847"/>
            <a:ext cx="2103120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Arduino : 1Byte</a:t>
            </a:r>
            <a:endParaRPr lang="ko-KR" altLang="en-US" dirty="0"/>
          </a:p>
        </p:txBody>
      </p:sp>
      <p:cxnSp>
        <p:nvCxnSpPr>
          <p:cNvPr id="8" name="직선 화살표 연결선 7"/>
          <p:cNvCxnSpPr/>
          <p:nvPr/>
        </p:nvCxnSpPr>
        <p:spPr>
          <a:xfrm flipH="1">
            <a:off x="7802880" y="1531833"/>
            <a:ext cx="124968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 flipH="1">
            <a:off x="7802880" y="5321513"/>
            <a:ext cx="124968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모서리가 둥근 직사각형 17"/>
          <p:cNvSpPr/>
          <p:nvPr/>
        </p:nvSpPr>
        <p:spPr>
          <a:xfrm>
            <a:off x="9245600" y="1001767"/>
            <a:ext cx="2171700" cy="106013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 smtClean="0"/>
              <a:t>UTF-16</a:t>
            </a:r>
          </a:p>
        </p:txBody>
      </p:sp>
      <p:sp>
        <p:nvSpPr>
          <p:cNvPr id="21" name="모서리가 둥근 직사각형 20"/>
          <p:cNvSpPr/>
          <p:nvPr/>
        </p:nvSpPr>
        <p:spPr>
          <a:xfrm>
            <a:off x="9245600" y="4791449"/>
            <a:ext cx="2171700" cy="106013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 smtClean="0"/>
              <a:t>UTF-8</a:t>
            </a:r>
            <a:endParaRPr lang="ko-KR" altLang="en-US" sz="2000" dirty="0"/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6353175" y="2061898"/>
            <a:ext cx="0" cy="28815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58280" y="3318020"/>
            <a:ext cx="1604645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ko-KR" smtClean="0"/>
              <a:t>UTF-8</a:t>
            </a:r>
            <a:r>
              <a:rPr lang="ko-KR" altLang="en-US" dirty="0" smtClean="0"/>
              <a:t>로 변경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476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/>
          <p:cNvCxnSpPr/>
          <p:nvPr/>
        </p:nvCxnSpPr>
        <p:spPr>
          <a:xfrm>
            <a:off x="734321" y="6233373"/>
            <a:ext cx="10682979" cy="0"/>
          </a:xfrm>
          <a:prstGeom prst="line">
            <a:avLst/>
          </a:prstGeom>
          <a:ln w="28575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734321" y="619973"/>
            <a:ext cx="10682979" cy="0"/>
          </a:xfrm>
          <a:prstGeom prst="line">
            <a:avLst/>
          </a:prstGeom>
          <a:ln w="57150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9777" y="228491"/>
            <a:ext cx="2646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부족한 점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&amp;</a:t>
            </a:r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보완해야 할 것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32314B0-40E9-40E1-8D7F-B1C6F5B2E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21" y="1631211"/>
            <a:ext cx="3867150" cy="359092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5331" y="2815794"/>
            <a:ext cx="1540623" cy="1221758"/>
          </a:xfrm>
          <a:prstGeom prst="rect">
            <a:avLst/>
          </a:prstGeom>
        </p:spPr>
      </p:pic>
      <p:sp>
        <p:nvSpPr>
          <p:cNvPr id="3" name="오른쪽 화살표 2"/>
          <p:cNvSpPr/>
          <p:nvPr/>
        </p:nvSpPr>
        <p:spPr>
          <a:xfrm>
            <a:off x="4714873" y="2083963"/>
            <a:ext cx="3857625" cy="53340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왼쪽 화살표 4"/>
          <p:cNvSpPr/>
          <p:nvPr/>
        </p:nvSpPr>
        <p:spPr>
          <a:xfrm>
            <a:off x="4714873" y="3276600"/>
            <a:ext cx="3781425" cy="523875"/>
          </a:xfrm>
          <a:prstGeom prst="leftArrow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오른쪽 화살표 13"/>
          <p:cNvSpPr/>
          <p:nvPr/>
        </p:nvSpPr>
        <p:spPr>
          <a:xfrm>
            <a:off x="4784588" y="4459712"/>
            <a:ext cx="3857625" cy="53340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075810" y="1785396"/>
            <a:ext cx="1123953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ko-KR" altLang="en-US" smtClean="0"/>
              <a:t>쓰레기값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541825" y="2959524"/>
            <a:ext cx="2343149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다시 보낼 것을 요청</a:t>
            </a:r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682316" y="4117551"/>
            <a:ext cx="2202657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한 번 더 값을 전달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6008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2425" y="1132845"/>
            <a:ext cx="6229350" cy="4587657"/>
          </a:xfrm>
          <a:prstGeom prst="rect">
            <a:avLst/>
          </a:prstGeom>
        </p:spPr>
      </p:pic>
      <p:cxnSp>
        <p:nvCxnSpPr>
          <p:cNvPr id="17" name="직선 연결선 16"/>
          <p:cNvCxnSpPr/>
          <p:nvPr/>
        </p:nvCxnSpPr>
        <p:spPr>
          <a:xfrm>
            <a:off x="734321" y="6233373"/>
            <a:ext cx="10682979" cy="0"/>
          </a:xfrm>
          <a:prstGeom prst="line">
            <a:avLst/>
          </a:prstGeom>
          <a:ln w="28575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734321" y="619973"/>
            <a:ext cx="10682979" cy="0"/>
          </a:xfrm>
          <a:prstGeom prst="line">
            <a:avLst/>
          </a:prstGeom>
          <a:ln w="57150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9777" y="228491"/>
            <a:ext cx="2646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부족한 점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&amp;</a:t>
            </a:r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보완해야 할 것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460" y="2140798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338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/>
          <p:cNvCxnSpPr/>
          <p:nvPr/>
        </p:nvCxnSpPr>
        <p:spPr>
          <a:xfrm>
            <a:off x="734321" y="6233373"/>
            <a:ext cx="10682979" cy="0"/>
          </a:xfrm>
          <a:prstGeom prst="line">
            <a:avLst/>
          </a:prstGeom>
          <a:ln w="28575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734321" y="619973"/>
            <a:ext cx="10682979" cy="0"/>
          </a:xfrm>
          <a:prstGeom prst="line">
            <a:avLst/>
          </a:prstGeom>
          <a:ln w="57150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9777" y="228491"/>
            <a:ext cx="2646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부족한 점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&amp;</a:t>
            </a:r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보완해야 할 것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761" y="1348959"/>
            <a:ext cx="2306052" cy="409964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554" y="1348958"/>
            <a:ext cx="2306052" cy="4099649"/>
          </a:xfrm>
          <a:prstGeom prst="rect">
            <a:avLst/>
          </a:prstGeom>
        </p:spPr>
      </p:pic>
      <p:cxnSp>
        <p:nvCxnSpPr>
          <p:cNvPr id="5" name="직선 화살표 연결선 4"/>
          <p:cNvCxnSpPr/>
          <p:nvPr/>
        </p:nvCxnSpPr>
        <p:spPr>
          <a:xfrm>
            <a:off x="4840014" y="3398782"/>
            <a:ext cx="2254469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2931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/>
          <p:cNvCxnSpPr/>
          <p:nvPr/>
        </p:nvCxnSpPr>
        <p:spPr>
          <a:xfrm>
            <a:off x="734321" y="6233373"/>
            <a:ext cx="10682979" cy="0"/>
          </a:xfrm>
          <a:prstGeom prst="line">
            <a:avLst/>
          </a:prstGeom>
          <a:ln w="28575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734321" y="619973"/>
            <a:ext cx="10682979" cy="0"/>
          </a:xfrm>
          <a:prstGeom prst="line">
            <a:avLst/>
          </a:prstGeom>
          <a:ln w="57150" cap="rnd" cmpd="sng">
            <a:solidFill>
              <a:schemeClr val="tx1">
                <a:lumMod val="75000"/>
                <a:lumOff val="25000"/>
              </a:schemeClr>
            </a:soli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9777" y="228491"/>
            <a:ext cx="11079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궁금한 점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810" y="397768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577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5547</TotalTime>
  <Words>648</Words>
  <Application>Microsoft Office PowerPoint</Application>
  <PresentationFormat>와이드스크린</PresentationFormat>
  <Paragraphs>153</Paragraphs>
  <Slides>27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나눔스퀘어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</dc:creator>
  <cp:lastModifiedBy>a</cp:lastModifiedBy>
  <cp:revision>48</cp:revision>
  <dcterms:created xsi:type="dcterms:W3CDTF">2018-07-14T08:09:06Z</dcterms:created>
  <dcterms:modified xsi:type="dcterms:W3CDTF">2018-07-20T02:02:59Z</dcterms:modified>
</cp:coreProperties>
</file>